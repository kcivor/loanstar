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d7a4b03cff4e87" /><Relationship Type="http://schemas.openxmlformats.org/officeDocument/2006/relationships/extended-properties" Target="/docProps/app.xml" Id="R99f5e1a4791b4973" /><Relationship Type="http://schemas.openxmlformats.org/officeDocument/2006/relationships/officeDocument" Target="/ppt/presentation.xml" Id="Rc4ba2e47407b46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41a6b4108f46bc"/>
  </p:sldMasterIdLst>
  <p:notesMasterIdLst>
    <p:notesMasterId xmlns:r="http://schemas.openxmlformats.org/officeDocument/2006/relationships" r:id="R3d91d596a1d1488c"/>
  </p:notesMasterIdLst>
  <p:sldIdLst>
    <p:sldId xmlns:r="http://schemas.openxmlformats.org/officeDocument/2006/relationships" id="256" r:id="R857165094ece48ca"/>
    <p:sldId xmlns:r="http://schemas.openxmlformats.org/officeDocument/2006/relationships" id="257" r:id="Rf75ecf4f309a4bc8"/>
    <p:sldId xmlns:r="http://schemas.openxmlformats.org/officeDocument/2006/relationships" id="258" r:id="Rb93b83725b0a4d84"/>
    <p:sldId xmlns:r="http://schemas.openxmlformats.org/officeDocument/2006/relationships" id="259" r:id="R21f8e0932a9b4ab5"/>
    <p:sldId xmlns:r="http://schemas.openxmlformats.org/officeDocument/2006/relationships" id="260" r:id="R80308544169048d8"/>
    <p:sldId xmlns:r="http://schemas.openxmlformats.org/officeDocument/2006/relationships" id="261" r:id="Rcfa51210bbaf403d"/>
    <p:sldId xmlns:r="http://schemas.openxmlformats.org/officeDocument/2006/relationships" id="262" r:id="R758ce54af95d45c3"/>
    <p:sldId xmlns:r="http://schemas.openxmlformats.org/officeDocument/2006/relationships" id="263" r:id="R7609146eb62e43a5"/>
    <p:sldId xmlns:r="http://schemas.openxmlformats.org/officeDocument/2006/relationships" id="264" r:id="R191afc7f584747c3"/>
    <p:sldId xmlns:r="http://schemas.openxmlformats.org/officeDocument/2006/relationships" id="265" r:id="R29a32a885d914b6c"/>
    <p:sldId xmlns:r="http://schemas.openxmlformats.org/officeDocument/2006/relationships" id="266" r:id="R882211f1feca4784"/>
    <p:sldId xmlns:r="http://schemas.openxmlformats.org/officeDocument/2006/relationships" id="267" r:id="R36e2040595424310"/>
    <p:sldId xmlns:r="http://schemas.openxmlformats.org/officeDocument/2006/relationships" id="268" r:id="R928657a642fc4c2f"/>
    <p:sldId xmlns:r="http://schemas.openxmlformats.org/officeDocument/2006/relationships" id="269" r:id="R6a2762c3316d4162"/>
    <p:sldId xmlns:r="http://schemas.openxmlformats.org/officeDocument/2006/relationships" id="270" r:id="R9f41e458a3044be6"/>
    <p:sldId xmlns:r="http://schemas.openxmlformats.org/officeDocument/2006/relationships" id="271" r:id="R10408fb6bf2d484f"/>
    <p:sldId xmlns:r="http://schemas.openxmlformats.org/officeDocument/2006/relationships" id="272" r:id="R17ea5a6610f64c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a82b9cc6d743cc" /><Relationship Type="http://schemas.openxmlformats.org/officeDocument/2006/relationships/slideMaster" Target="/ppt/slideMasters/slideMaster1.xml" Id="R4c41a6b4108f46bc" /><Relationship Type="http://schemas.openxmlformats.org/officeDocument/2006/relationships/notesMaster" Target="/ppt/notesMasters/notesMaster1.xml" Id="R3d91d596a1d1488c" /><Relationship Type="http://schemas.openxmlformats.org/officeDocument/2006/relationships/presProps" Target="/ppt/presProps.xml" Id="R95f4971fd08e495e" /><Relationship Type="http://schemas.openxmlformats.org/officeDocument/2006/relationships/viewProps" Target="/ppt/viewProps.xml" Id="R476b4a27f6e84d75" /><Relationship Type="http://schemas.openxmlformats.org/officeDocument/2006/relationships/tableStyles" Target="/ppt/tableStyles.xml" Id="R20c72bc89c6f4e64" /><Relationship Type="http://schemas.openxmlformats.org/officeDocument/2006/relationships/slide" Target="/ppt/slides/slide1.xml" Id="R857165094ece48ca" /><Relationship Type="http://schemas.openxmlformats.org/officeDocument/2006/relationships/slide" Target="/ppt/slides/slide2.xml" Id="Rf75ecf4f309a4bc8" /><Relationship Type="http://schemas.openxmlformats.org/officeDocument/2006/relationships/slide" Target="/ppt/slides/slide3.xml" Id="Rb93b83725b0a4d84" /><Relationship Type="http://schemas.openxmlformats.org/officeDocument/2006/relationships/slide" Target="/ppt/slides/slide4.xml" Id="R21f8e0932a9b4ab5" /><Relationship Type="http://schemas.openxmlformats.org/officeDocument/2006/relationships/slide" Target="/ppt/slides/slide5.xml" Id="R80308544169048d8" /><Relationship Type="http://schemas.openxmlformats.org/officeDocument/2006/relationships/slide" Target="/ppt/slides/slide6.xml" Id="Rcfa51210bbaf403d" /><Relationship Type="http://schemas.openxmlformats.org/officeDocument/2006/relationships/slide" Target="/ppt/slides/slide7.xml" Id="R758ce54af95d45c3" /><Relationship Type="http://schemas.openxmlformats.org/officeDocument/2006/relationships/slide" Target="/ppt/slides/slide8.xml" Id="R7609146eb62e43a5" /><Relationship Type="http://schemas.openxmlformats.org/officeDocument/2006/relationships/slide" Target="/ppt/slides/slide9.xml" Id="R191afc7f584747c3" /><Relationship Type="http://schemas.openxmlformats.org/officeDocument/2006/relationships/slide" Target="/ppt/slides/slide10.xml" Id="R29a32a885d914b6c" /><Relationship Type="http://schemas.openxmlformats.org/officeDocument/2006/relationships/slide" Target="/ppt/slides/slide11.xml" Id="R882211f1feca4784" /><Relationship Type="http://schemas.openxmlformats.org/officeDocument/2006/relationships/slide" Target="/ppt/slides/slide12.xml" Id="R36e2040595424310" /><Relationship Type="http://schemas.openxmlformats.org/officeDocument/2006/relationships/slide" Target="/ppt/slides/slide13.xml" Id="R928657a642fc4c2f" /><Relationship Type="http://schemas.openxmlformats.org/officeDocument/2006/relationships/slide" Target="/ppt/slides/slide14.xml" Id="R6a2762c3316d4162" /><Relationship Type="http://schemas.openxmlformats.org/officeDocument/2006/relationships/slide" Target="/ppt/slides/slide15.xml" Id="R9f41e458a3044be6" /><Relationship Type="http://schemas.openxmlformats.org/officeDocument/2006/relationships/slide" Target="/ppt/slides/slide16.xml" Id="R10408fb6bf2d484f" /><Relationship Type="http://schemas.openxmlformats.org/officeDocument/2006/relationships/slide" Target="/ppt/slides/slide17.xml" Id="R17ea5a6610f64c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0cafd2d2b54f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e54b55c17a43bf" /><Relationship Type="http://schemas.openxmlformats.org/officeDocument/2006/relationships/notesMaster" Target="/ppt/notesMasters/notesMaster1.xml" Id="R948913ea73334d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22a1e52cef43dc" /><Relationship Type="http://schemas.openxmlformats.org/officeDocument/2006/relationships/notesMaster" Target="/ppt/notesMasters/notesMaster1.xml" Id="R78013fb6314146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f5806594fe4a27" /><Relationship Type="http://schemas.openxmlformats.org/officeDocument/2006/relationships/notesMaster" Target="/ppt/notesMasters/notesMaster1.xml" Id="R6e98467d602647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82cc6c254e4057" /><Relationship Type="http://schemas.openxmlformats.org/officeDocument/2006/relationships/notesMaster" Target="/ppt/notesMasters/notesMaster1.xml" Id="R142a8b2316f044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7f7cdf689e4927" /><Relationship Type="http://schemas.openxmlformats.org/officeDocument/2006/relationships/notesMaster" Target="/ppt/notesMasters/notesMaster1.xml" Id="Rc32c119d4c0643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3e78c3dbc147ea" /><Relationship Type="http://schemas.openxmlformats.org/officeDocument/2006/relationships/notesMaster" Target="/ppt/notesMasters/notesMaster1.xml" Id="R2b4f6eb4e32447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93ece9317c4240" /><Relationship Type="http://schemas.openxmlformats.org/officeDocument/2006/relationships/notesMaster" Target="/ppt/notesMasters/notesMaster1.xml" Id="R49d4dac220aa4a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38df5edbf44d7a" /><Relationship Type="http://schemas.openxmlformats.org/officeDocument/2006/relationships/notesMaster" Target="/ppt/notesMasters/notesMaster1.xml" Id="Rebfec15f123945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2ceab0db7c4293" /><Relationship Type="http://schemas.openxmlformats.org/officeDocument/2006/relationships/notesMaster" Target="/ppt/notesMasters/notesMaster1.xml" Id="Rcb661899bc1841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f641334ffd4b8c" /><Relationship Type="http://schemas.openxmlformats.org/officeDocument/2006/relationships/notesMaster" Target="/ppt/notesMasters/notesMaster1.xml" Id="R8613d400210d46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ed79139efc4c1a" /><Relationship Type="http://schemas.openxmlformats.org/officeDocument/2006/relationships/notesMaster" Target="/ppt/notesMasters/notesMaster1.xml" Id="Rf996cf49ac6b4f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6ecbb113d54464" /><Relationship Type="http://schemas.openxmlformats.org/officeDocument/2006/relationships/notesMaster" Target="/ppt/notesMasters/notesMaster1.xml" Id="Rb30516a853e142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93bd14a85f4d8b" /><Relationship Type="http://schemas.openxmlformats.org/officeDocument/2006/relationships/notesMaster" Target="/ppt/notesMasters/notesMaster1.xml" Id="R61564807f6c548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72b0c519f445b8" /><Relationship Type="http://schemas.openxmlformats.org/officeDocument/2006/relationships/notesMaster" Target="/ppt/notesMasters/notesMaster1.xml" Id="R5103f55450594c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57b8acb6084bf9" /><Relationship Type="http://schemas.openxmlformats.org/officeDocument/2006/relationships/notesMaster" Target="/ppt/notesMasters/notesMaster1.xml" Id="R75be483173e745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ce143a7e534337" /><Relationship Type="http://schemas.openxmlformats.org/officeDocument/2006/relationships/notesMaster" Target="/ppt/notesMasters/notesMaster1.xml" Id="Rf048b702c41949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c3ec4d0ceb46f9" /><Relationship Type="http://schemas.openxmlformats.org/officeDocument/2006/relationships/notesMaster" Target="/ppt/notesMasters/notesMaster1.xml" Id="Rd33329891905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Use this cover for the formal client UAT session. Confirm the project name, client, date, tested version, and presenter.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Good [morning/afternoon]. Today we will review the project progress, validate the agreed solution, record the results, and confirm the next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Use this slide as the agenda. State that the client will see the complete project status before testing begins.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We will first confirm what the project set out to deliver and where it stands. We will then complete the UAT cycle and agree on the decision and follow-up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Use plain business language. Do not begin with technical architecture unless the client asks for it.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This project started because [business problem]. The agreed objective was [objective]. Today we will validate whether the completed solution supports that objective.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Confirm the baseline that UAT will validate. If the client disputes the scope, stop and reconcile the approved records.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These are the items included in the approved project and the measures we will use during acceptance. New ideas will be recorded for assessment after the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Replace each date and output. Highlight the current UAT stage and the planned handover gate.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The project completed the approved discovery, design, build, and internal testing activities. We are now at UAT, where your users validate the solution before final handover.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Populate using the project tracker and approved deliverables. Explain any incomplete or deferred item and its effect on UAT.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The project is [percentage] complete based on the approved deliverables. These items are ready for UAT, while [item] remains [status] because [reason].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Use one row for each important business capability. Avoid listing technical tasks that the client cannot validate.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The completed solution supports these business areas. Each capability connects to a UAT scenario that your users will perform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Include only approved changes and decisions relevant to the final solution or UAT. Keep unapproved requests in the issue and action log.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These approved changes explain how the final solution differs from the original plan. The UAT scope already reflects these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Use this transition slide before readiness and testing. Make the expected decision explicit.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UAT allows your authorized users to confirm that the agreed solution works for the approved business processes. At the end, we will record the acceptance status and any remaining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Update the status immediately before the meeting. If an item is not ready, state its effect and the revised testing plan.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Before testing begins, we will confirm each readiness item. Any critical gap will be resolved or the affected scenario will be rescheduled.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Use totals and sample records to show that the correct data was loaded. Do not expose passwords or unnecessary sensitive information.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We prepared the users and test data based on the approved records. Please confirm the roles, source file, counts, and important totals before we execute the scenarios.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Use the full UAT document for detailed steps. This slide gives the client a clear testing map.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These are the business scenarios we agreed to validate. Each tester will complete the assigned task and confirm whether the actual result matches the expected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Display this slide before the first test case. Repeat the method when new testers join.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For every scenario, we will state the task, let the assigned user perform it, compare the result, save appropriate evidence, and record the status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Populate the counts and important scenario results after testing. Do not label an unexecuted scenario as passed.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We completed [number] scenarios. [Number] passed, while the remaining items require the actions shown in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Review each open item with the client. State whether it affects acceptance. Escalate material commitments for CEO approval before confirming them.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We classified each concern so the right action is clear. These are the owners, target dates, and retesting requirements agreed during the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Select only the applicable status in the final client copy. Link the signed or written approval record after the meeting.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Based on the completed tests and recorded evidence, the proposed UAT status is [status]. Please confirm the reason, conditions, and authorized approval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TO USE THIS SLIDE</a:t>
            </a:r>
          </a:p>
          <a:p xmlns:a="http://schemas.openxmlformats.org/drawingml/2006/main">
            <a:r>
              <a:t>Confirm every owner and target date before ending. Send the written record promptly and prepare the separate final handover presentation after UAT approval.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SUGGESTED CLIENT-FACING WORDING</a:t>
            </a:r>
          </a:p>
          <a:p xmlns:a="http://schemas.openxmlformats.org/drawingml/2006/main">
            <a:r>
              <a:t>To close today’s UAT cycle, these are the agreed next steps, owners, and dates. I will send the written record for confirmation and prepare the final handover once the acceptance requirements are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ba94fa90e40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b393ba9aeb4e9c" /><Relationship Type="http://schemas.openxmlformats.org/officeDocument/2006/relationships/slideLayout" Target="/ppt/slideLayouts/slideLayout1.xml" Id="R7a36de76c1f14e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36de76c1f14e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f83d2748947c8" /><Relationship Type="http://schemas.openxmlformats.org/officeDocument/2006/relationships/notesSlide" Target="/ppt/notesSlides/notesSlide1.xml" Id="R451a9a585d5f43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43006ad1441bb" /><Relationship Type="http://schemas.openxmlformats.org/officeDocument/2006/relationships/notesSlide" Target="/ppt/notesSlides/notesSlide2.xml" Id="R810a48dfee9f41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6a7dceaf04070" /><Relationship Type="http://schemas.openxmlformats.org/officeDocument/2006/relationships/notesSlide" Target="/ppt/notesSlides/notesSlide3.xml" Id="Rcc97827dbccf42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18152bac7437b" /><Relationship Type="http://schemas.openxmlformats.org/officeDocument/2006/relationships/notesSlide" Target="/ppt/notesSlides/notesSlide4.xml" Id="R89459ffd5ce54c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77460b0e94db6" /><Relationship Type="http://schemas.openxmlformats.org/officeDocument/2006/relationships/notesSlide" Target="/ppt/notesSlides/notesSlide5.xml" Id="R30c3f721ce3a48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6f8d887204e6c" /><Relationship Type="http://schemas.openxmlformats.org/officeDocument/2006/relationships/notesSlide" Target="/ppt/notesSlides/notesSlide6.xml" Id="Re11da9ec0beb4a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0eb6a223d4c43" /><Relationship Type="http://schemas.openxmlformats.org/officeDocument/2006/relationships/notesSlide" Target="/ppt/notesSlides/notesSlide7.xml" Id="R5b7b38bf22a543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8e15b14b943d7" /><Relationship Type="http://schemas.openxmlformats.org/officeDocument/2006/relationships/notesSlide" Target="/ppt/notesSlides/notesSlide8.xml" Id="R992e970c821244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2f07271124255" /><Relationship Type="http://schemas.openxmlformats.org/officeDocument/2006/relationships/notesSlide" Target="/ppt/notesSlides/notesSlide9.xml" Id="R638938547f1c43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236b7074f4813" /><Relationship Type="http://schemas.openxmlformats.org/officeDocument/2006/relationships/notesSlide" Target="/ppt/notesSlides/notesSlide10.xml" Id="R928464a5bc044e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29320910f417b" /><Relationship Type="http://schemas.openxmlformats.org/officeDocument/2006/relationships/notesSlide" Target="/ppt/notesSlides/notesSlide11.xml" Id="R8c56bfcaa43344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a478809ce4964" /><Relationship Type="http://schemas.openxmlformats.org/officeDocument/2006/relationships/notesSlide" Target="/ppt/notesSlides/notesSlide12.xml" Id="R78161b2ee05c44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1accbaa2f43ab" /><Relationship Type="http://schemas.openxmlformats.org/officeDocument/2006/relationships/notesSlide" Target="/ppt/notesSlides/notesSlide13.xml" Id="R270eb2fbc48447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6771735894b90" /><Relationship Type="http://schemas.openxmlformats.org/officeDocument/2006/relationships/notesSlide" Target="/ppt/notesSlides/notesSlide14.xml" Id="Rdedf826247de49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7c28569aa4e77" /><Relationship Type="http://schemas.openxmlformats.org/officeDocument/2006/relationships/notesSlide" Target="/ppt/notesSlides/notesSlide15.xml" Id="Rfcc552bd11b247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449e8962a4480" /><Relationship Type="http://schemas.openxmlformats.org/officeDocument/2006/relationships/notesSlide" Target="/ppt/notesSlides/notesSlide16.xml" Id="R09cafd82789f46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5483f5f734e6c" /><Relationship Type="http://schemas.openxmlformats.org/officeDocument/2006/relationships/notesSlide" Target="/ppt/notesSlides/notesSlide17.xml" Id="R37a216b25e9640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1B10601-1F2B-47CF-91FB-7F7C08C2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7F31FC6-60AF-4894-A6C8-3F02B5B2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72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F5DCB16-E698-44E3-AC0D-D2182EDC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923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User Acceptance Testing</a:t>
            </a:r>
          </a:p>
          <a:p xmlns:a="http://schemas.openxmlformats.org/drawingml/2006/main">
            <a:pPr algn="l">
              <a:buNone/>
              <a:defRPr sz="300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Progress and Decision Presentation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7A2B5A9-64EE-4878-BEF5-A42E07EF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Loan Star Lending Group </a:t>
            </a:r>
            <a:r>
              <a:rPr sz="1500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Company</a:t>
            </a:r>
            <a:r>
              <a:rPr sz="1500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129F5E4-3512-4E59-A470-0A501403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052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UAT Date: </a:t>
            </a:r>
            <a:r>
              <a:rPr sz="1050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09/22/2026</a:t>
            </a:r>
            <a:r>
              <a:rPr sz="1050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  |  |  Prepared by </a:t>
            </a:r>
            <a:r>
              <a:rPr sz="1050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Rovick Romasanta</a:t>
            </a:r>
            <a:endParaRPr sz="1050" b="0" i="0">
              <a:solidFill>
                <a:srgbClr val="69738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6AEB8CF-6E09-414D-A3D1-B19CDE55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5000" lnSpcReduction="20000"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FBC586E-E4D5-4A13-BFD6-C2A1C10B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924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AB7D29D-67CF-4356-A7E2-FE847F7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E892BF-7ACB-4534-9F8E-C9E89B89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22C3AD-9C72-4377-8CA9-BB125AD8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B4B456C-23AD-4EF0-92A8-FACA2E94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850C3F7-83E5-4F19-854A-A4C75753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UAT presentation flow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610DE3F-A831-4348-A8AF-76AD4086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presentation covers project progress before moving into client validation and approval.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6AF072-B93A-4096-ABB9-3C4D7E45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52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4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A64AAA3-2E8B-4D48-80CF-B9E9E05F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PROJECT PROGRESS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ECC45B-C117-4142-92EF-AA9A7FA0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Objective, scope, timeline, completed work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C5633AA-6F08-4101-9643-7DDCF609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00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92A64B6-B077-401E-850C-D7778A10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52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4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68A8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68A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C8AD091-64DB-47F4-9601-EB9AAA25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UAT READINESS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296F181-443D-4A27-82B6-4F277749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5717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Environment, users, data, scenarios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9185C55-6ED5-47A3-86A9-B8F8F7A4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00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5CBC2B3-277F-4EC0-927D-EA340AAE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52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4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7039C86-F9F3-42D4-826F-6DD3CDF3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CLIENT TESTING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C644538-D3D1-46D1-B321-B80FC8C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717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Execute scenarios and record evidence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C1E9CE9-F4E6-45CA-84B0-807AEB92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00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C2FFDA0-63B1-41B7-8F21-07752B9D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90750"/>
            <a:ext cx="52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4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68A8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68A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97DA74B-3B84-4950-B3E4-C39987D4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397A2FD-07C5-4D26-86B2-BF1A9156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717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Results, actions, approval, next step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29879B7-29F4-48F1-8342-7651E33F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Keep the project story short enough to leave most of the session for client testing and decisions.</a:t>
            </a:r>
          </a:p>
        </p:txBody>
      </p:sp>
    </p:spTree>
    <p:extLst>
      <p:ext uri="{BB962C8B-B14F-4D97-AF65-F5344CB8AC3E}">
        <p14:creationId xmlns:p14="http://schemas.microsoft.com/office/powerpoint/2010/main" val="1380370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E0784AB-343A-43C2-9800-BFC9433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A19337-3CFC-4E58-A59E-F3830E1E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C9A1FE-53C8-4127-A6DF-4ADD7C3E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PROJECT PROGRESS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21113CB-7A99-4933-9314-9D24FF78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EBDA69D-BAF0-46D0-A108-8657C363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A9675E5-9992-4345-8100-AB721634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Summarize the business reason for the project before discussing features or technical details.</a:t>
            </a:r>
          </a:p>
        </p:txBody>
      </p:sp>
      <p:graphicFrame>
        <p:nvGraphicFramePr>
          <p:cNvPr id="17" name="Table 14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11277600" cy="37147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191250"/>
                <a:gridCol w="2705100"/>
              </a:tblGrid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Information to Present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Client Confirmation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Business problem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750"/>
                        <a:t>Manual, paper-based processing across CSA, CIG, Committee, LRA, AR, and Collector teams — no unified system to track a file.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Confirm or revise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Project objective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650"/>
                        <a:t>Confirm the platform performs borrower onboarding, underwriting, committee review, release, collections, accounting, admin, and access control correctly before handover.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Confirm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Primary users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750"/>
                        <a:t>Borrowers &amp; Agents (Seafarer/SME/Individual); CSA, CIG, Committee, LRA, Collector, AR, Remedial, Admin staff; Management/Executives.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Confirm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Solution delivered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750"/>
                        <a:t>Unified digital lending platform: origination, underwriting, committee decisions, disbursement, servicing, collections, and reporting.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Confirm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Project Owner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Rovick Romasanta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Acknowledge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Authorized approver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Client approver — </a:t>
                      </a:r>
                      <a:r>
                        <a:rPr sz="975"/>
                        <a:t>Jemmy</a:t>
                      </a:r>
                      <a:r>
                        <a:rPr sz="975"/>
                        <a:t> Hsieh/Rene – Rovick Romasanta </a:t>
                      </a:r>
                      <a:endParaRPr sz="975"/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Confirm authority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42C6307-BEF5-484C-8DB2-2B65F27F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The Project Owner presents verified records and coordinates with the CEO when approval exceeds assigned authority.</a:t>
            </a:r>
          </a:p>
        </p:txBody>
      </p:sp>
    </p:spTree>
    <p:extLst>
      <p:ext uri="{BB962C8B-B14F-4D97-AF65-F5344CB8AC3E}">
        <p14:creationId xmlns:p14="http://schemas.microsoft.com/office/powerpoint/2010/main" val="1383872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A1EF1EE-95E9-4530-8AC2-D71C6FBF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945CB8-90C7-4CCE-A01E-AA7BF2DF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A21A2F6-5AD8-4091-AE61-267899AA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7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PROJECT PROGRESS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A6C2CB-D7A0-45C8-9901-F80BA3A4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7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D24FFB-6FC2-47D4-9558-9B455322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Approved scope and success criteria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1F87BB-47E2-4BD3-A01D-2AEE9E97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Set the testing boundary before showing progress or accepting new requests.</a:t>
            </a:r>
          </a:p>
        </p:txBody>
      </p:sp>
      <p:graphicFrame>
        <p:nvGraphicFramePr>
          <p:cNvPr id="17" name="Table 14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11277600" cy="37147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238875"/>
                <a:gridCol w="2657475"/>
              </a:tblGrid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Approved Requirement or Measure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 / Evidence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Included scope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650"/>
                        <a:t>14 modules / 5 areas: Onboarding (Registration, Borrower Portal, Agent Leads); Underwriting (CSA, CIG, Committee, LRA); Servicing (Briefings, AR, Collector DCR, Remedial); Admin (Reports, Dashboard, Users); Controls (Auth, RBAC, Redirects).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 Plan Appendix A, POL-006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Out of scope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750"/>
                        <a:t>footer Legal pages (placeholder links); session persistence via standard browser cookies only.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Approved for this release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Success measure 1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875"/>
                        <a:t>A case in Appendix B is Passed only when the actual result matches the expected result exactly.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POL-006 section 8.4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Success measure 2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875"/>
                        <a:t>A module is accepted when all its cases are Passed or Accepted with Minor Actions.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POL-006 section 8.4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Acceptance basis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POL-006 UAT and Final Project Handover Policy — Appendix A &amp; B.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Appendix A/B, POL-006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Known limitation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The three items above are accepted limitations for this release.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Client acknowledgment pending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757988C-E875-46EF-8D9E-D248F34C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Record new requests separately. Assess scope, cost, timeline, and risk before making a commitment.</a:t>
            </a:r>
          </a:p>
        </p:txBody>
      </p:sp>
    </p:spTree>
    <p:extLst>
      <p:ext uri="{BB962C8B-B14F-4D97-AF65-F5344CB8AC3E}">
        <p14:creationId xmlns:p14="http://schemas.microsoft.com/office/powerpoint/2010/main" val="63841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7D255F8D-66A8-429D-9B45-389B630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D39543-32CC-4798-82F6-CDA71421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720A816-D509-45F0-A810-B57D7A02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PROJECT PROGRESS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B098E62-D8FA-4DBE-BD49-003515CC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B700A-6AC0-4EE2-B15F-714A33CF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Project timeline and current position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6D40387-414B-4C83-B843-71E34364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Show the client how the project moved from approval to UAT.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282B929-357C-47E1-A3EF-4431E167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D816E18-BC34-4931-B469-CF5E4AF3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7B946B7-D3A5-41B1-BF8A-609C9BE8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08DB526-7DE7-45DD-A2E7-B40710B1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194935-922F-4D11-A94E-944285AF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88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endParaRPr sz="825" b="0" i="0">
              <a:solidFill>
                <a:srgbClr val="69738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9CD2696-DFAA-424F-A58C-ACC9D69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7162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500" lnSpcReduction="20000"/>
          </a:bodyPr>
          <a:lstStyle xmlns:a="http://schemas.openxmlformats.org/drawingml/2006/main"/>
          <a:p xmlns:a="http://schemas.openxmlformats.org/drawingml/2006/main">
            <a:r>
              <a:t>Approved requirements &amp; 14-module scope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D64564F-26C5-4B6C-8495-41865C9F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99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208D542-4BF0-4A7A-9DC0-6738743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3B0CFD3-E862-4D4A-835D-19B489D0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24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24C2567-C372-449B-AD50-27EF35E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290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88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endParaRPr sz="825" b="0" i="0">
              <a:solidFill>
                <a:srgbClr val="69738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D4A55CA-0380-49CF-A39F-922546A5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67162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r>
              <a:t>D</a:t>
            </a:r>
            <a:r>
              <a:t>esign system UI/UX finalized</a:t>
            </a:r>
          </a:p>
        </p:txBody>
      </p: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8A746FC1-B9BA-4BF2-B9A8-14C2394D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99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47ED4B6-3F2F-4790-8ED3-396A75FC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3705193-2DD1-4F94-A35A-49893027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AA331FA-513E-4D1F-AC94-57AD0BF5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7162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500" lnSpcReduction="20000"/>
          </a:bodyPr>
          <a:lstStyle xmlns:a="http://schemas.openxmlformats.org/drawingml/2006/main"/>
          <a:p xmlns:a="http://schemas.openxmlformats.org/drawingml/2006/main">
            <a:r>
              <a:t>14 modules built end to end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EB5C54CA-C826-4D85-90CE-D446BFB8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390E2BD-3CF2-4895-BD2F-710574AB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C4944BC-2F73-4644-9380-BFDE8A68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INTERNAL TEST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B809556-0833-4C5E-9C00-1001E087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88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0721F16-A122-4CEA-AB8D-DC4A1415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67162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500" lnSpcReduction="20000"/>
          </a:bodyPr>
          <a:lstStyle xmlns:a="http://schemas.openxmlformats.org/drawingml/2006/main"/>
          <a:p xmlns:a="http://schemas.openxmlformats.org/drawingml/2006/main">
            <a:r>
              <a:t>Internal QA &amp; E2E simulation done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FBC55D6E-597E-4361-8822-BAA6015C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99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7770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766A2CE-C6FE-4EA8-A9B5-50BB1773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F2ED600-6AB9-4024-BAF4-0F94689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24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UAT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7CD1743-8BE9-4E42-960D-F801D722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67162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110 test cases ready (Appx B)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C7F8AB37-8FCB-4EF3-BBA2-13B46F0C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099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76463D2-3557-4ABE-A2FC-4C08C009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6EC0B313-576D-423D-BEE3-2E85B078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24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HANDOVER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5229F38-33BF-4C0E-9D1F-1344131A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67162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Signed UAT acceptance (Appx G)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932E150A-FB7E-4CBF-B55C-9FF1E83A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Use actual approval and completion dates. Do not present estimated work as completed work.</a:t>
            </a:r>
          </a:p>
        </p:txBody>
      </p:sp>
    </p:spTree>
    <p:extLst>
      <p:ext uri="{BB962C8B-B14F-4D97-AF65-F5344CB8AC3E}">
        <p14:creationId xmlns:p14="http://schemas.microsoft.com/office/powerpoint/2010/main" val="2045158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A4202DE-1269-47BE-82DC-88B85525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E69E08-161C-488A-83F9-5F332597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8327BEE-289B-48EB-AD4A-538798C5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PROJECT PROGRESS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9723FE8-9E44-43EC-BD41-91325953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C890C8-D956-4AF7-B287-122EA48C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Overall project progress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DD0AE88-F7DC-4174-A90B-12BDE8C8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Present completion by deliverable, supported by evidence rather than a general percentage alone.</a:t>
            </a:r>
          </a:p>
        </p:txBody>
      </p:sp>
      <p:graphicFrame>
        <p:nvGraphicFramePr>
          <p:cNvPr id="17" name="Table 14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11277600" cy="37147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714750"/>
                <a:gridCol w="1571625"/>
                <a:gridCol w="3371850"/>
              </a:tblGrid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Deliverable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Planned Output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Progress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/ Comment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Borrower &amp; Agent Onboarding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Registration, Borrower Portal, Agent Leads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Ready for UAT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UAT-001–023 ready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Underwriting Workflow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CSA Intake, CIG Verification, Committee, LRA Release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Ready for UAT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UAT-024–048, 097–110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Post-Disbursement &amp; Servicing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Briefings, AR Ledger, Collector DCR, Remedial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Ready for UAT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UAT-049–067 ready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Management &amp; Administration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Reports, Dashboard Hub, User &amp; Role Mgmt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Ready for UAT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UAT-068–082 ready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System-Wide Controls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Authentication, Password Reset, RBAC, Redirects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Ready for UAT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UAT-083–096 ready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OVERALL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14 modules, 110 UAT test cases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All modules ready for UAT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Testing dates TBD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4DC5B6D-4665-4DE1-BF48-A5D2DBF3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Use a documented calculation for the overall percentage. Clearly separate completed, in progress, blocked, and deferred work.</a:t>
            </a:r>
          </a:p>
        </p:txBody>
      </p:sp>
    </p:spTree>
    <p:extLst>
      <p:ext uri="{BB962C8B-B14F-4D97-AF65-F5344CB8AC3E}">
        <p14:creationId xmlns:p14="http://schemas.microsoft.com/office/powerpoint/2010/main" val="411145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080927D-D3B7-49B8-A54B-A7565B5F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BB10D0-D347-4E4B-BA42-EBE2EF1F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C8F3BC4-7040-4747-9B1F-932641F4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PROJECT PROGRESS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6A8B412-D18B-43CC-9267-B3E10874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9FD1EA-DB17-4A8C-9EB8-AFBF6778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Delivered solution overview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BFEE49-D4A1-4A75-A836-9BEDA831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Connect completed features to the client’s daily work.</a:t>
            </a:r>
          </a:p>
        </p:txBody>
      </p:sp>
      <p:graphicFrame>
        <p:nvGraphicFramePr>
          <p:cNvPr id="17" name="Table 14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11277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714750"/>
                <a:gridCol w="3143250"/>
                <a:gridCol w="2181225"/>
              </a:tblGrid>
              <a:tr h="5715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Area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Delivered Capability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User Benefit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UAT Scenario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Borrower &amp; Agent Onboarding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875"/>
                        <a:t>Registration &amp; account settings; Seafarer/SME/Individual intake; Agent lead pipeline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Self-service applications, faster agent conversion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UAT-001–023</a:t>
                      </a:r>
                    </a:p>
                  </a:txBody>
                  <a:tcPr marL="76200" marR="7620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Underwriting Workflow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875"/>
                        <a:t>CSA intake &amp; computation; CIG verification (Field Visit, collateral); Committee voting; LRA release setup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Faster, auditable, consistent credit decisions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UAT-024–048, 097–110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Post-Disbursement &amp; Servicing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875"/>
                        <a:t>Pre-departure briefings; AR masterlist &amp; ledger; Collector DCR; Remedial portfolio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Accurate receivables, earlier delinquency response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UAT-049–067</a:t>
                      </a:r>
                    </a:p>
                  </a:txBody>
                  <a:tcPr marL="76200" marR="7620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Management &amp; Administration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875"/>
                        <a:t>Operational reports &amp; analytics; Dashboard Hub; staff user &amp; role management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Real-time visibility, controlled staff access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UAT-068–082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System-Wide Controls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Authentication, password recovery, RBAC, legacy route redirection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Secure, role-gated access to every module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UAT-083–096</a:t>
                      </a:r>
                    </a:p>
                  </a:txBody>
                  <a:tcPr marL="76200" marR="76200" marT="57150" marB="57150" anchor="ctr"/>
                </a:tc>
              </a:tr>
            </a:tbl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E8ABCB7-43DD-4E60-AACD-5C9F132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Keep this overview focused. The detailed validation happens in the UAT scenarios.</a:t>
            </a:r>
          </a:p>
        </p:txBody>
      </p:sp>
    </p:spTree>
    <p:extLst>
      <p:ext uri="{BB962C8B-B14F-4D97-AF65-F5344CB8AC3E}">
        <p14:creationId xmlns:p14="http://schemas.microsoft.com/office/powerpoint/2010/main" val="7253211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FD2E263-545B-47D9-81E1-279B5498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74ADFF-E829-46D3-95EC-2BFDCBF8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F0D7977-07AA-403A-B051-463B578E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PROJECT PROGRESS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053D18-FDE0-45C0-89BB-C021ADD5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5142F40-9CA8-48B4-B1E9-0A1B7FE3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Approved changes and key decisions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8D50333-E51E-47DA-89F9-7B085EC4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Show how approved changes affected the final scope, schedule, or solution.</a:t>
            </a:r>
          </a:p>
        </p:txBody>
      </p:sp>
      <p:graphicFrame>
        <p:nvGraphicFramePr>
          <p:cNvPr id="17" name="Table 14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112776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3190875"/>
                <a:gridCol w="2238375"/>
                <a:gridCol w="2714625"/>
                <a:gridCol w="1466850"/>
              </a:tblGrid>
              <a:tr h="6286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Change or Decision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Approved By / Date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Effect on Project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Status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ADD-001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750"/>
                        <a:t>SME/Individual/Collateral addendum: Field Visit form replaces CI &amp; References; CM/REM inspections now support multiple vehicles/properties.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Approved post-review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Expanded UAT scope by 14 cases (UAT-097–110)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Incorporated in UAT Plan</a:t>
                      </a:r>
                    </a:p>
                  </a:txBody>
                  <a:tcPr marL="76200" marR="76200" marT="57150" marB="57150" anchor="ctr"/>
                </a:tc>
              </a:tr>
            </a:tbl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F11861-330B-4855-939C-106ECF87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Material commitments require the required internal approval, including CEO approval when applicable.</a:t>
            </a:r>
          </a:p>
        </p:txBody>
      </p:sp>
    </p:spTree>
    <p:extLst>
      <p:ext uri="{BB962C8B-B14F-4D97-AF65-F5344CB8AC3E}">
        <p14:creationId xmlns:p14="http://schemas.microsoft.com/office/powerpoint/2010/main" val="20744654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2CBAFCB-C42B-49DE-87E6-3B9A597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8F99E36-1354-4470-A5A0-A2DD6F28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94816C2-3764-4366-A6DF-6E010C7C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UAT CYCLE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E4B281-E326-4BD4-A6A1-A1AAF3EB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2F7149-86C4-4F51-B57C-1519DBD7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UAT objective and decision required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C7694-F3BF-42C6-A397-D0BEA713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Clarify what the client is validating and the decision expected at the end of the cycle.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B9689AF-704F-4E6B-9902-EFD40E8A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Confirm the platform performs onboarding, underwriting, committee review, release, collections, accounting, admin, and access control correctly, before handover.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9798B84-E83E-4C18-BE9F-A1E48CE5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68A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A83"/>
                </a:solidFill>
                <a:latin typeface="Arial"/>
                <a:ea typeface="Arial"/>
                <a:cs typeface="Arial"/>
              </a:rPr>
              <a:t>CLIENT VALIDATES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C636B7F-9954-4B2B-979C-C6BA5C33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• Agreed business workflows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• Correct outputs and data behavior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• User roles and access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• Known limitations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6A9A445-30B0-44C5-82A8-E0B784A0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DECISION AT THE END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4A4D67-90A1-4985-94C8-C40E09AD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To be determined at the end of the UAT cycle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0C38F79-3F0F-43E2-9645-6319ABC5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UAT confirms the agreed solution. It does not provide automatic approval for new scope.</a:t>
            </a:r>
          </a:p>
        </p:txBody>
      </p:sp>
    </p:spTree>
    <p:extLst>
      <p:ext uri="{BB962C8B-B14F-4D97-AF65-F5344CB8AC3E}">
        <p14:creationId xmlns:p14="http://schemas.microsoft.com/office/powerpoint/2010/main" val="12105503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9DD410-DBAB-4D99-8F07-44B43AE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AD9BE2-5F69-4240-8624-1498EB5F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45B221C-D73B-41C2-9FA9-53806E9D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UAT CYCLE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BA5986B-5FD9-4C4A-8208-497589A9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9C80CDC-7A51-4A35-BFAB-5690FB98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UAT readiness confirmation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ADC4BF7-E0C5-4D4C-9639-8F006CD5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Confirm that the system, people, data, and documents are ready before client testing begins.</a:t>
            </a:r>
          </a:p>
        </p:txBody>
      </p:sp>
      <p:graphicFrame>
        <p:nvGraphicFramePr>
          <p:cNvPr id="17" name="Table 14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11277600" cy="37147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286000"/>
                <a:gridCol w="1762125"/>
                <a:gridCol w="3705225"/>
              </a:tblGrid>
              <a:tr h="530679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Readiness Check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/ Remaining Action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Internal testing completed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Rovick Romasanta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Ready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Internal QA + E2E lifecycle simulation completed (14 modules)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Critical defects resolved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Rovick Romasanta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Ready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No open critical defects on record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 environment available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Rovick Romasanta</a:t>
                      </a:r>
                      <a:endParaRPr sz="975"/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Read</a:t>
                      </a:r>
                      <a:endParaRPr sz="975"/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Staging URL / build / version TBD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Test users and roles verified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Rovick Romasanta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Ready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Role accounts provisioned for all tested roles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Test data loaded and checked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Rovick Romasanta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Pending confirmation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Sample data approval &amp; UAT load status TBD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 forms and evidence folder ready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Rovick Romasanta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Ready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Appendix B (110 cases) + Appendix C issue log ready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CB6D5BB-29AD-439A-9705-01E6A09C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64A4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64A43"/>
                </a:solidFill>
                <a:latin typeface="Arial"/>
                <a:ea typeface="Arial"/>
                <a:cs typeface="Arial"/>
              </a:rPr>
              <a:t>Do not start affected tests when a critical readiness item remains unresolved.</a:t>
            </a:r>
          </a:p>
        </p:txBody>
      </p:sp>
    </p:spTree>
    <p:extLst>
      <p:ext uri="{BB962C8B-B14F-4D97-AF65-F5344CB8AC3E}">
        <p14:creationId xmlns:p14="http://schemas.microsoft.com/office/powerpoint/2010/main" val="20862496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D95B917-3453-48F2-B0AE-2338B82F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82AE958-F6B1-4898-88A4-7CC8C89A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47F1B95-9E11-404C-8627-F48A8655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UAT CYCLE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3691F1-9346-415C-A5C6-CA6EDB78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71D5DA8-42E8-46A5-B1FE-FE69A79D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Test users, access, and data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E2BEE-3E23-4A20-90FD-35340AF7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Confirm who will test, what access they have, and what data supports the scenarios.</a:t>
            </a:r>
          </a:p>
        </p:txBody>
      </p:sp>
      <p:graphicFrame>
        <p:nvGraphicFramePr>
          <p:cNvPr id="17" name="Table 14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11277600" cy="37147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33750"/>
                <a:gridCol w="3333750"/>
                <a:gridCol w="2038350"/>
              </a:tblGrid>
              <a:tr h="530679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Planned / Expected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/ Verified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Client Confirmation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Authorized testers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Client testers per module (from Client Main Contact)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Pending submission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Confirm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Access levels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Role-based permissions per assigned module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Applied on load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Confirm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Approved data source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Client-approved UAT sample data set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Applied on load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Confirm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Record counts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To match approved sample data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Applied on load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Confirm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Important totals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To match approved sample data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Pending load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Confirm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Sensitive data controls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Masking / non-production values only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Applied on load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Acknowledge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472260F-3D2E-4035-AA33-2DC79065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Never guess missing client data. Record gaps and ask the authorized client owner to confirm the correct value.</a:t>
            </a:r>
          </a:p>
        </p:txBody>
      </p:sp>
    </p:spTree>
    <p:extLst>
      <p:ext uri="{BB962C8B-B14F-4D97-AF65-F5344CB8AC3E}">
        <p14:creationId xmlns:p14="http://schemas.microsoft.com/office/powerpoint/2010/main" val="6579858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0CAD8EC-254A-40A0-B147-0BDB8A3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EF15FF-929C-4E97-97AD-0DC6BF34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3210432-734F-4E30-B5F1-7174242F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UAT CYCLE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A4CC94A-65EB-4B32-9498-8901B0C5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4806A5D-705A-4664-BA00-8CEFCA45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UAT scenarios and expected results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F0E707-191A-44DE-B441-196A545A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List the business tasks that client users will perform.</a:t>
            </a:r>
          </a:p>
        </p:txBody>
      </p:sp>
      <p:graphicFrame>
        <p:nvGraphicFramePr>
          <p:cNvPr id="17" name="Table 14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11277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333750"/>
                <a:gridCol w="2238375"/>
                <a:gridCol w="3095625"/>
                <a:gridCol w="1276350"/>
              </a:tblGrid>
              <a:tr h="5715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UAT ID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Scenario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Tester / Role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Result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UAT-009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Start a new Seafarer loan application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Borrower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Draft application created; navigates to workspace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Critical</a:t>
                      </a:r>
                    </a:p>
                  </a:txBody>
                  <a:tcPr marL="76200" marR="7620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UAT-028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Endorse an application to CIG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CSA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Status → 'For Verification'; file moves to CIG queue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Critical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UAT-038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Record an Approve vote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Credit Committee Member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Vote recorded as Approved; tally increments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Critical</a:t>
                      </a:r>
                    </a:p>
                  </a:txBody>
                  <a:tcPr marL="76200" marR="7620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UAT-060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Create a DCR with payment allocation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Collector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DCR submitted; forwarded to AR for verification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Critical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UAT-091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Borrower cannot access CSA portal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Any role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Access blocked; redirected to /borrower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Critical</a:t>
                      </a:r>
                    </a:p>
                  </a:txBody>
                  <a:tcPr marL="76200" marR="76200" marT="57150" marB="57150" anchor="ctr"/>
                </a:tc>
              </a:tr>
            </a:tbl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AA0ABDF-D848-47F2-A325-FE7067B2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5 representative scenarios shown; the full 110-case set across 14 modules is in Appendix B of the UAT Plan (POL-006).</a:t>
            </a:r>
          </a:p>
        </p:txBody>
      </p:sp>
    </p:spTree>
    <p:extLst>
      <p:ext uri="{BB962C8B-B14F-4D97-AF65-F5344CB8AC3E}">
        <p14:creationId xmlns:p14="http://schemas.microsoft.com/office/powerpoint/2010/main" val="18275605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F00001E-34E8-4B44-9B7A-2D3EF81B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A8B274-81D3-4B70-91FD-31C92F0B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617A62-AC74-41F2-94C2-E4ED702A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7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UAT CYCLE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C065FF1-9296-49A7-939E-62281FDD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7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9E14F8-6AD0-4411-AC86-B48D4326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UAT execution flow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9E2BCC-0BF8-410E-9334-4A067FA9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Use the same five-step method for every business scenario.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6C5BA9-B613-4EA4-A78F-14662F96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AEEBCF2-F7B5-4324-B938-8C1B1C08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STATE THE TASK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D3A3BF-24BA-4DD2-B40F-0FB83C5E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Confirm the business goal and expected result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B5C5A5A-6668-4760-B60F-531BE88D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383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68A8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68A8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C161D40-BFE6-4AE3-948E-96842AF2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03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CLIENT PERFORMS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3B16AC8-9771-41A5-AC3D-B062F05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09950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tester uses the system as in daily work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16D4586-E7E9-42E6-8100-3ED9CEF8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09CEEC5-796D-4FAD-BF05-9F465EB4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03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COMPARE RESULTS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8D56DAA-9EB0-4586-8677-F8DE73D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09950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Review actual result against the expected result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A553D92-044B-40B1-BFC4-4DEEE563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83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68A8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68A8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A272BF3-D171-46D5-B09B-C2A033F0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03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SAVE EVIDENCE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73F2C76-F8EA-4C79-B168-711B1FA3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Record safe screenshots, references, or notes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80BBF66-9890-4A60-B289-8CD5040D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9F147B-7839-485D-BA38-8D266625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03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SET STATUS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2B19006-DBE1-408E-8724-941DA468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09950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Passed, Failed, Blocked, or Pending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EC24222-70BC-4966-8045-CAF7B2FD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The client performs the test. The Project Owner facilitates, observes, records evidence, and avoids leading the result.</a:t>
            </a:r>
          </a:p>
        </p:txBody>
      </p:sp>
    </p:spTree>
    <p:extLst>
      <p:ext uri="{BB962C8B-B14F-4D97-AF65-F5344CB8AC3E}">
        <p14:creationId xmlns:p14="http://schemas.microsoft.com/office/powerpoint/2010/main" val="310432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7742CF6-2B8F-4B17-8A1D-25EA8C18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B0A1398-F593-41B0-BE7D-5F969287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6FFAB2-91D1-47EE-AECA-D87EFC18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UAT CYCLE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9FF05D2-CE20-4344-BE14-45CFCC6A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43A53D-AC0A-4C4D-A99A-4E2677CD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UAT results summary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4C9911-AD9F-494D-B9D5-3066C2B8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Summarize results by status and show the detailed record for important scenarios.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177D96-C197-4D03-A0AF-6EAC9FFE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sz="2850"/>
              <a:t>0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D2CD471-85A4-4672-9675-44351A67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478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1B6B12A-E6EE-4CCA-B0EC-0887E964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sz="2850"/>
              <a:t>0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57D6680-6954-474D-BB3B-F722FD92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478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FAILED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DC517EA-59A2-4C4F-9BA1-CFAAECDA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573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sz="2850"/>
              <a:t>0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3D7914D-840C-44BC-B87D-53B23392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478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B37EE17-959E-489A-BA07-3035D2FE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573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sz="2850"/>
              <a:t>110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6D2C55A-3F1E-4477-AC8E-231841EA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478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graphicFrame>
        <p:nvGraphicFramePr>
          <p:cNvPr id="33" name="Table 30"/>
          <p:cNvGraphicFramePr/>
          <p:nvPr/>
        </p:nvGraphicFramePr>
        <p:xfrm>
          <a:off xmlns:a="http://schemas.openxmlformats.org/drawingml/2006/main" x="457200" y="2857500"/>
          <a:ext xmlns:a="http://schemas.openxmlformats.org/drawingml/2006/main" cx="11277600" cy="1066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238500"/>
                <a:gridCol w="3238500"/>
                <a:gridCol w="1657350"/>
              </a:tblGrid>
              <a:tr h="533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UAT ID / Scenario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Result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Result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All 110 scenarios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Per Appendix B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Recorded during the session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Pending</a:t>
                      </a:r>
                    </a:p>
                  </a:txBody>
                  <a:tcPr marL="76200" marR="76200" marT="57150" marB="57150" anchor="ctr"/>
                </a:tc>
              </a:tr>
            </a:tbl>
          </a:graphicData>
        </a:graphic>
      </p:graphicFrame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D8DB2A3-CDBF-45B8-99C6-53FF759D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Use the detailed UAT record as the source. Explain blocked tests separately from failed tests.</a:t>
            </a:r>
          </a:p>
        </p:txBody>
      </p:sp>
    </p:spTree>
    <p:extLst>
      <p:ext uri="{BB962C8B-B14F-4D97-AF65-F5344CB8AC3E}">
        <p14:creationId xmlns:p14="http://schemas.microsoft.com/office/powerpoint/2010/main" val="1324594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054F70C-AD97-450C-ACDC-9A373F14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A5D3F2-909D-402A-B526-99F453C0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1E59F1-334B-4707-88AC-EDE32C77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UAT CYCLE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44ED98-EF42-4EEA-BDAA-ABAB385D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A28DA5-820D-459A-AA09-4E4C5A21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Issues, retesting, and action plan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D4FC0E1-B608-4D80-B3EC-A11F26A9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Separate confirmed defects from data, access, training, and new-scope concerns.</a:t>
            </a:r>
          </a:p>
        </p:txBody>
      </p:sp>
      <p:graphicFrame>
        <p:nvGraphicFramePr>
          <p:cNvPr id="17" name="Table 14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112776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571750"/>
                <a:gridCol w="3524250"/>
                <a:gridCol w="2095500"/>
                <a:gridCol w="165735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Issue ID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Type / Impact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Agreed Action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Owner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Target / Retest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UAT-025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Defect: agent information missing from loan applications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Added staff-editable agent assignment and form display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Rovick Romasanta</a:t>
                      </a:r>
                      <a:endParaRPr sz="975"/>
                    </a:p>
                  </a:txBody>
                  <a:tcPr marL="76200" marR="76200" marT="57150" marB="5715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Closed today</a:t>
                      </a:r>
                    </a:p>
                  </a:txBody>
                  <a:tcPr marL="76200" marR="76200" marT="57150" marB="57150" anchor="ctr"/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UAT-040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Defect: committee hold could not be cleared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Added clear-hold action; return application to committee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Rovick Romasanta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Closed today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UAT-076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Enhancement: User Management filtering and account separation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Added role filters, pagination, and borrower/staff separation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Rovick Romasanta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Closed today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UAT-078 / 079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Defect: deactivated account retained access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Disabled access immediately; reactivation requires fresh access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Rovick Romasanta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Closed today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UAT-094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Defect: restricted-page message unclear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Added clear restricted-access message and safe return route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Rovick Romasanta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Closed today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Meeting follow-up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Agent dashboard showed organisation-wide Agent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Scoped Agent dashboard analytics to the signed-in 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Rovick Romasanta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Aptos"/>
                          <a:ea typeface="Aptos"/>
                          <a:cs typeface="Aptos"/>
                        </a:rPr>
                        <a:t>Closed today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304B6A4-8AE1-4F38-85A6-D420A8E1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Every action needs one accountable owner, a target date, and a clear condition for closure.</a:t>
            </a:r>
          </a:p>
        </p:txBody>
      </p:sp>
    </p:spTree>
    <p:extLst>
      <p:ext uri="{BB962C8B-B14F-4D97-AF65-F5344CB8AC3E}">
        <p14:creationId xmlns:p14="http://schemas.microsoft.com/office/powerpoint/2010/main" val="4063962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70E5768-D81C-4E04-8CAE-ED911832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AB77D0-8811-4141-B0BF-A8E5A1C1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EA8DB6-14CB-47B6-8E50-FF48DE35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UAT CYCLE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FDD0F2B-F0E4-48C5-89BC-314D0823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3AEE09-1558-4E4E-996A-E5BDC792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UAT decision and sign-off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069AB43-D8AD-4035-8CA1-412426F5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Record one decision supported by the completed tests, evidence, and agreed actions.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2AF2BE5-4175-4E79-AE48-33C2891A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8A6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380F394-CC5E-4646-B511-CEC768BF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431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6CBE3DF-17D1-4443-A8DC-4CB85F0B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DF0655A-B7E2-4A66-81BB-955E74E3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431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ACCEPTED WITH ACTIONS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8D1CB977-F727-466B-B98F-D30FCDC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B7770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3139D0F-B58F-43C2-9DC4-7714F030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431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RETEST REQUIRED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0655CE31-5B3D-422E-BDA7-B61F72FD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B64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AACC76D-5A52-4C36-8872-7A526DFD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ACCEPTED</a:t>
            </a:r>
          </a:p>
        </p:txBody>
      </p:sp>
      <p:graphicFrame>
        <p:nvGraphicFramePr>
          <p:cNvPr id="33" name="Table 30"/>
          <p:cNvGraphicFramePr/>
          <p:nvPr/>
        </p:nvGraphicFramePr>
        <p:xfrm>
          <a:off xmlns:a="http://schemas.openxmlformats.org/drawingml/2006/main" x="457200" y="3048000"/>
          <a:ext xmlns:a="http://schemas.openxmlformats.org/drawingml/2006/main" cx="11277600" cy="2714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134350"/>
              </a:tblGrid>
              <a:tr h="45243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Record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Information to Complete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Selected status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Selected at end of session</a:t>
                      </a:r>
                    </a:p>
                  </a:txBody>
                  <a:tcPr marL="76200" marR="76200" marT="57150" marB="57150" anchor="ctr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Based on recorded evidence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Acceptance conditions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Based on remaining actions, if any</a:t>
                      </a:r>
                    </a:p>
                  </a:txBody>
                  <a:tcPr marL="76200" marR="76200" marT="57150" marB="57150" anchor="ctr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Authorized client approver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Name, role, date — TBD by client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Approval evidence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Appendix G — UAT Acceptance Form</a:t>
                      </a:r>
                    </a:p>
                  </a:txBody>
                  <a:tcPr marL="76200" marR="76200" marT="57150" marB="57150" anchor="ctr"/>
                </a:tc>
              </a:tr>
            </a:tbl>
          </a:graphicData>
        </a:graphic>
      </p:graphicFrame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2B73607-60CC-4FF5-8DD5-FEFB17E1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Do not pressure the client to accept critical incomplete work. Read back the decision and conditions before closing.</a:t>
            </a:r>
          </a:p>
        </p:txBody>
      </p:sp>
    </p:spTree>
    <p:extLst>
      <p:ext uri="{BB962C8B-B14F-4D97-AF65-F5344CB8AC3E}">
        <p14:creationId xmlns:p14="http://schemas.microsoft.com/office/powerpoint/2010/main" val="3388762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470DF-584A-4C35-B328-AFF262C0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STARTUPLAB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0113DF-A1F9-42C7-835A-0A6E9D5F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78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 </a:t>
            </a:r>
            <a:endParaRPr sz="675" b="1" i="0">
              <a:solidFill>
                <a:srgbClr val="B777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9C5080C-EC3F-4D41-AA2B-DFA2CADF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CLOSEOUT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4FC2D53-CCC6-4EB7-A30D-FD48F932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6463D69-F0D3-42E9-AAE7-668F0C49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2033"/>
                </a:solidFill>
                <a:latin typeface="Arial"/>
                <a:ea typeface="Arial"/>
                <a:cs typeface="Arial"/>
              </a:rPr>
              <a:t>Next steps toward final handover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898B12-658B-42EF-982C-A2811E7C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Close the UAT cycle with owners, dates, and the next decision gate.</a:t>
            </a:r>
          </a:p>
        </p:txBody>
      </p:sp>
      <p:graphicFrame>
        <p:nvGraphicFramePr>
          <p:cNvPr id="17" name="Table 14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11277600" cy="37147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857500"/>
                <a:gridCol w="2095500"/>
                <a:gridCol w="2514600"/>
              </a:tblGrid>
              <a:tr h="53067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Step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Date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Completion Evidence</a:t>
                      </a:r>
                    </a:p>
                  </a:txBody>
                  <a:tcPr marL="76200" marR="76200" marT="57150" marB="57150" anchor="ctr">
                    <a:solidFill>
                      <a:srgbClr val="2F75B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Send UAT summary and meeting record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Rovick Romasanta</a:t>
                      </a:r>
                      <a:endParaRPr sz="975"/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Within 1 business day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Email to Client Main Contact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Complete remaining approved actions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Per Appendix C issue log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Per agreed retest date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Updated Appendix C entry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Retest affected scenarios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Client tester / Project Owner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Per agreed retest date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Updated Appendix B record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Secure written UAT approval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Authorized Client Approver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TBD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Appendix G, signed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Prepare final handover package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Rovick Romasanta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TBD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Handover checklist</a:t>
                      </a:r>
                    </a:p>
                  </a:txBody>
                  <a:tcPr marL="76200" marR="76200" marT="57150" marB="57150" anchor="ctr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52033"/>
                          </a:solidFill>
                          <a:latin typeface="Arial"/>
                          <a:ea typeface="Arial"/>
                          <a:cs typeface="Arial"/>
                        </a:rPr>
                        <a:t>Conduct final handover meeting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Rovick Romasanta and LSLGC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TBD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buNone/>
                      </a:pPr>
                      <a:r>
                        <a:rPr sz="975"/>
                        <a:t>Signed handover record</a:t>
                      </a:r>
                    </a:p>
                  </a:txBody>
                  <a:tcPr marL="76200" marR="76200" marT="57150" marB="5715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4AA358A-A635-41A5-885A-21C88220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7770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77708"/>
                </a:solidFill>
                <a:latin typeface="Arial"/>
                <a:ea typeface="Arial"/>
                <a:cs typeface="Arial"/>
              </a:rPr>
              <a:t>The UAT cycle closes when results, actions, approval, and the next gate are documented and shared.</a:t>
            </a:r>
          </a:p>
        </p:txBody>
      </p:sp>
    </p:spTree>
    <p:extLst>
      <p:ext uri="{BB962C8B-B14F-4D97-AF65-F5344CB8AC3E}">
        <p14:creationId xmlns:p14="http://schemas.microsoft.com/office/powerpoint/2010/main" val="391545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2026-09-23T05:53:34.4610000Z</dcterms:created>
  <dcterms:modified xsi:type="dcterms:W3CDTF">2026-09-23T05:53:34.4610000Z</dcterms:modified>
</coreProperties>
</file>
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dbec41fec414a54" /><Relationship Type="http://schemas.openxmlformats.org/officeDocument/2006/relationships/extended-properties" Target="/docProps/app.xml" Id="R3245430787a04377" /><Relationship Type="http://schemas.openxmlformats.org/officeDocument/2006/relationships/officeDocument" Target="/ppt/presentation.xml" Id="R95d54de4a6fe4da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567ebed468a4ee8"/>
  </p:sldMasterIdLst>
  <p:notesMasterIdLst>
    <p:notesMasterId xmlns:r="http://schemas.openxmlformats.org/officeDocument/2006/relationships" r:id="R0f99cb6328884c85"/>
  </p:notesMasterIdLst>
  <p:sldIdLst>
    <p:sldId xmlns:r="http://schemas.openxmlformats.org/officeDocument/2006/relationships" id="256" r:id="R1d44b2c36a8949db"/>
    <p:sldId xmlns:r="http://schemas.openxmlformats.org/officeDocument/2006/relationships" id="257" r:id="R9a5f50fedb284031"/>
    <p:sldId xmlns:r="http://schemas.openxmlformats.org/officeDocument/2006/relationships" id="258" r:id="R7ad72a6cf72940c9"/>
    <p:sldId xmlns:r="http://schemas.openxmlformats.org/officeDocument/2006/relationships" id="259" r:id="R3b98bd7e835e41a2"/>
    <p:sldId xmlns:r="http://schemas.openxmlformats.org/officeDocument/2006/relationships" id="260" r:id="R15f5867ca46f4b97"/>
    <p:sldId xmlns:r="http://schemas.openxmlformats.org/officeDocument/2006/relationships" id="261" r:id="Re0e14fbbc20146a6"/>
    <p:sldId xmlns:r="http://schemas.openxmlformats.org/officeDocument/2006/relationships" id="262" r:id="Reba29a16d18d4739"/>
    <p:sldId xmlns:r="http://schemas.openxmlformats.org/officeDocument/2006/relationships" id="263" r:id="R378544aec7c241ab"/>
    <p:sldId xmlns:r="http://schemas.openxmlformats.org/officeDocument/2006/relationships" id="264" r:id="R10799373919d4d4a"/>
    <p:sldId xmlns:r="http://schemas.openxmlformats.org/officeDocument/2006/relationships" id="265" r:id="R591aa9f659134431"/>
    <p:sldId xmlns:r="http://schemas.openxmlformats.org/officeDocument/2006/relationships" id="266" r:id="R50f379625cc5477e"/>
    <p:sldId xmlns:r="http://schemas.openxmlformats.org/officeDocument/2006/relationships" id="267" r:id="Rb2b097445a394e43"/>
    <p:sldId xmlns:r="http://schemas.openxmlformats.org/officeDocument/2006/relationships" id="268" r:id="R5531178dd70c496c"/>
    <p:sldId xmlns:r="http://schemas.openxmlformats.org/officeDocument/2006/relationships" id="269" r:id="Rc16cd00c17744880"/>
    <p:sldId xmlns:r="http://schemas.openxmlformats.org/officeDocument/2006/relationships" id="270" r:id="R6fa7bec5640b4437"/>
    <p:sldId xmlns:r="http://schemas.openxmlformats.org/officeDocument/2006/relationships" id="271" r:id="Ra538dec9e5af4bc4"/>
    <p:sldId xmlns:r="http://schemas.openxmlformats.org/officeDocument/2006/relationships" id="272" r:id="Ra8bf5a3a35a64c9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dcd290bfb334651" /><Relationship Type="http://schemas.openxmlformats.org/officeDocument/2006/relationships/slideMaster" Target="/ppt/slideMasters/slideMaster1.xml" Id="Rd567ebed468a4ee8" /><Relationship Type="http://schemas.openxmlformats.org/officeDocument/2006/relationships/notesMaster" Target="/ppt/notesMasters/notesMaster1.xml" Id="R0f99cb6328884c85" /><Relationship Type="http://schemas.openxmlformats.org/officeDocument/2006/relationships/presProps" Target="/ppt/presProps.xml" Id="R0adb698bd577474a" /><Relationship Type="http://schemas.openxmlformats.org/officeDocument/2006/relationships/viewProps" Target="/ppt/viewProps.xml" Id="R245180c923884099" /><Relationship Type="http://schemas.openxmlformats.org/officeDocument/2006/relationships/tableStyles" Target="/ppt/tableStyles.xml" Id="Ref168cbff43e4d86" /><Relationship Type="http://schemas.openxmlformats.org/officeDocument/2006/relationships/slide" Target="/ppt/slides/slide1.xml" Id="R1d44b2c36a8949db" /><Relationship Type="http://schemas.openxmlformats.org/officeDocument/2006/relationships/slide" Target="/ppt/slides/slide2.xml" Id="R9a5f50fedb284031" /><Relationship Type="http://schemas.openxmlformats.org/officeDocument/2006/relationships/slide" Target="/ppt/slides/slide3.xml" Id="R7ad72a6cf72940c9" /><Relationship Type="http://schemas.openxmlformats.org/officeDocument/2006/relationships/slide" Target="/ppt/slides/slide4.xml" Id="R3b98bd7e835e41a2" /><Relationship Type="http://schemas.openxmlformats.org/officeDocument/2006/relationships/slide" Target="/ppt/slides/slide5.xml" Id="R15f5867ca46f4b97" /><Relationship Type="http://schemas.openxmlformats.org/officeDocument/2006/relationships/slide" Target="/ppt/slides/slide6.xml" Id="Re0e14fbbc20146a6" /><Relationship Type="http://schemas.openxmlformats.org/officeDocument/2006/relationships/slide" Target="/ppt/slides/slide7.xml" Id="Reba29a16d18d4739" /><Relationship Type="http://schemas.openxmlformats.org/officeDocument/2006/relationships/slide" Target="/ppt/slides/slide8.xml" Id="R378544aec7c241ab" /><Relationship Type="http://schemas.openxmlformats.org/officeDocument/2006/relationships/slide" Target="/ppt/slides/slide9.xml" Id="R10799373919d4d4a" /><Relationship Type="http://schemas.openxmlformats.org/officeDocument/2006/relationships/slide" Target="/ppt/slides/slide10.xml" Id="R591aa9f659134431" /><Relationship Type="http://schemas.openxmlformats.org/officeDocument/2006/relationships/slide" Target="/ppt/slides/slide11.xml" Id="R50f379625cc5477e" /><Relationship Type="http://schemas.openxmlformats.org/officeDocument/2006/relationships/slide" Target="/ppt/slides/slide12.xml" Id="Rb2b097445a394e43" /><Relationship Type="http://schemas.openxmlformats.org/officeDocument/2006/relationships/slide" Target="/ppt/slides/slide13.xml" Id="R5531178dd70c496c" /><Relationship Type="http://schemas.openxmlformats.org/officeDocument/2006/relationships/slide" Target="/ppt/slides/slide14.xml" Id="Rc16cd00c17744880" /><Relationship Type="http://schemas.openxmlformats.org/officeDocument/2006/relationships/slide" Target="/ppt/slides/slide15.xml" Id="R6fa7bec5640b4437" /><Relationship Type="http://schemas.openxmlformats.org/officeDocument/2006/relationships/slide" Target="/ppt/slides/slide16.xml" Id="Ra538dec9e5af4bc4" /><Relationship Type="http://schemas.openxmlformats.org/officeDocument/2006/relationships/slide" Target="/ppt/slides/slide17.xml" Id="Ra8bf5a3a35a64c9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267c00f27c1405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901ea2bd6b04a01" /><Relationship Type="http://schemas.openxmlformats.org/officeDocument/2006/relationships/notesMaster" Target="/ppt/notesMasters/notesMaster1.xml" Id="R9f944da3788a48a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5e2698e094447fc" /><Relationship Type="http://schemas.openxmlformats.org/officeDocument/2006/relationships/notesMaster" Target="/ppt/notesMasters/notesMaster1.xml" Id="Rd5b993fba0014bb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2c49af18e9e4cdc" /><Relationship Type="http://schemas.openxmlformats.org/officeDocument/2006/relationships/notesMaster" Target="/ppt/notesMasters/notesMaster1.xml" Id="Rac36dc59144b462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07e2e3dda88473e" /><Relationship Type="http://schemas.openxmlformats.org/officeDocument/2006/relationships/notesMaster" Target="/ppt/notesMasters/notesMaster1.xml" Id="Ree2403b5330a432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d2cb7568d614c1a" /><Relationship Type="http://schemas.openxmlformats.org/officeDocument/2006/relationships/notesMaster" Target="/ppt/notesMasters/notesMaster1.xml" Id="Ra597cc9764fb4b1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6969f42bb1440e5" /><Relationship Type="http://schemas.openxmlformats.org/officeDocument/2006/relationships/notesMaster" Target="/ppt/notesMasters/notesMaster1.xml" Id="R52278dbd61cb454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46b064ea3a74da2" /><Relationship Type="http://schemas.openxmlformats.org/officeDocument/2006/relationships/notesMaster" Target="/ppt/notesMasters/notesMaster1.xml" Id="R3aa65f6f0ce9487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df06198d2e84033" /><Relationship Type="http://schemas.openxmlformats.org/officeDocument/2006/relationships/notesMaster" Target="/ppt/notesMasters/notesMaster1.xml" Id="R1180db7e55314be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b6b949820e44246" /><Relationship Type="http://schemas.openxmlformats.org/officeDocument/2006/relationships/notesMaster" Target="/ppt/notesMasters/notesMaster1.xml" Id="Rcf1acc131d8d49e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d5361c7c5f244b7" /><Relationship Type="http://schemas.openxmlformats.org/officeDocument/2006/relationships/notesMaster" Target="/ppt/notesMasters/notesMaster1.xml" Id="R4af31f173f3b481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58d757bffe747f7" /><Relationship Type="http://schemas.openxmlformats.org/officeDocument/2006/relationships/notesMaster" Target="/ppt/notesMasters/notesMaster1.xml" Id="R3b2bf4c414d5429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b1af7ccd6124c6c" /><Relationship Type="http://schemas.openxmlformats.org/officeDocument/2006/relationships/notesMaster" Target="/ppt/notesMasters/notesMaster1.xml" Id="R3a94532229444c2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2baae01b3fc47a2" /><Relationship Type="http://schemas.openxmlformats.org/officeDocument/2006/relationships/notesMaster" Target="/ppt/notesMasters/notesMaster1.xml" Id="R3011cc3d1644474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6d587490f0a481d" /><Relationship Type="http://schemas.openxmlformats.org/officeDocument/2006/relationships/notesMaster" Target="/ppt/notesMasters/notesMaster1.xml" Id="Ra17678019fa4462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1047a4c7c7f4da9" /><Relationship Type="http://schemas.openxmlformats.org/officeDocument/2006/relationships/notesMaster" Target="/ppt/notesMasters/notesMaster1.xml" Id="R813ea43b4f99425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d8991c3aadb4f9a" /><Relationship Type="http://schemas.openxmlformats.org/officeDocument/2006/relationships/notesMaster" Target="/ppt/notesMasters/notesMaster1.xml" Id="Rf9e9cf5b2eb1464b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6a010190d98a472c" /><Relationship Type="http://schemas.openxmlformats.org/officeDocument/2006/relationships/notesMaster" Target="/ppt/notesMasters/notesMaster1.xml" Id="Rf1e44ec52e6a467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HOW TO USE THIS SLIDE</a:t>
            </a:r>
          </a:p>
          <a:p xmlns:a="http://schemas.openxmlformats.org/drawingml/2006/main">
            <a:r>
              <a:t>Use this cover for the formal client UAT session. Confirm the project name, client, date, tested version, and presenter.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SUGGESTED CLIENT-FACING WORDING</a:t>
            </a:r>
          </a:p>
          <a:p xmlns:a="http://schemas.openxmlformats.org/drawingml/2006/main">
            <a:r>
              <a:t>Good [morning/afternoon]. Today we will review the project progress, validate the agreed solution, record the results, and confirm the next step.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HOW TO USE THIS SLIDE</a:t>
            </a:r>
          </a:p>
          <a:p xmlns:a="http://schemas.openxmlformats.org/drawingml/2006/main">
            <a:r>
              <a:t>Use this slide as the agenda. State that the client will see the complete project status before testing begins.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SUGGESTED CLIENT-FACING WORDING</a:t>
            </a:r>
          </a:p>
          <a:p xmlns:a="http://schemas.openxmlformats.org/drawingml/2006/main">
            <a:r>
              <a:t>We will first confirm what the project set out to deliver and where it stands. We will then complete the UAT cycle and agree on the decision and follow-up actions.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HOW TO USE THIS SLIDE</a:t>
            </a:r>
          </a:p>
          <a:p xmlns:a="http://schemas.openxmlformats.org/drawingml/2006/main">
            <a:r>
              <a:t>Use plain business language. Do not begin with technical architecture unless the client asks for it.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SUGGESTED CLIENT-FACING WORDING</a:t>
            </a:r>
          </a:p>
          <a:p xmlns:a="http://schemas.openxmlformats.org/drawingml/2006/main">
            <a:r>
              <a:t>This project started because [business problem]. The agreed objective was [objective]. Today we will validate whether the completed solution supports that objective.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HOW TO USE THIS SLIDE</a:t>
            </a:r>
          </a:p>
          <a:p xmlns:a="http://schemas.openxmlformats.org/drawingml/2006/main">
            <a:r>
              <a:t>Confirm the baseline that UAT will validate. If the client disputes the scope, stop and reconcile the approved records.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SUGGESTED CLIENT-FACING WORDING</a:t>
            </a:r>
          </a:p>
          <a:p xmlns:a="http://schemas.openxmlformats.org/drawingml/2006/main">
            <a:r>
              <a:t>These are the items included in the approved project and the measures we will use during acceptance. New ideas will be recorded for assessment after the session.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HOW TO USE THIS SLIDE</a:t>
            </a:r>
          </a:p>
          <a:p xmlns:a="http://schemas.openxmlformats.org/drawingml/2006/main">
            <a:r>
              <a:t>Replace each date and output. Highlight the current UAT stage and the planned handover gate.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SUGGESTED CLIENT-FACING WORDING</a:t>
            </a:r>
          </a:p>
          <a:p xmlns:a="http://schemas.openxmlformats.org/drawingml/2006/main">
            <a:r>
              <a:t>The project completed the approved discovery, design, build, and internal testing activities. We are now at UAT, where your users validate the solution before final handover.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HOW TO USE THIS SLIDE</a:t>
            </a:r>
          </a:p>
          <a:p xmlns:a="http://schemas.openxmlformats.org/drawingml/2006/main">
            <a:r>
              <a:t>Populate using the project tracker and approved deliverables. Explain any incomplete or deferred item and its effect on UAT.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SUGGESTED CLIENT-FACING WORDING</a:t>
            </a:r>
          </a:p>
          <a:p xmlns:a="http://schemas.openxmlformats.org/drawingml/2006/main">
            <a:r>
              <a:t>The project is [percentage] complete based on the approved deliverables. These items are ready for UAT, while [item] remains [status] because [reason].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HOW TO USE THIS SLIDE</a:t>
            </a:r>
          </a:p>
          <a:p xmlns:a="http://schemas.openxmlformats.org/drawingml/2006/main">
            <a:r>
              <a:t>Use one row for each important business capability. Avoid listing technical tasks that the client cannot validate.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SUGGESTED CLIENT-FACING WORDING</a:t>
            </a:r>
          </a:p>
          <a:p xmlns:a="http://schemas.openxmlformats.org/drawingml/2006/main">
            <a:r>
              <a:t>The completed solution supports these business areas. Each capability connects to a UAT scenario that your users will perform today.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HOW TO USE THIS SLIDE</a:t>
            </a:r>
          </a:p>
          <a:p xmlns:a="http://schemas.openxmlformats.org/drawingml/2006/main">
            <a:r>
              <a:t>Include only approved changes and decisions relevant to the final solution or UAT. Keep unapproved requests in the issue and action log.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SUGGESTED CLIENT-FACING WORDING</a:t>
            </a:r>
          </a:p>
          <a:p xmlns:a="http://schemas.openxmlformats.org/drawingml/2006/main">
            <a:r>
              <a:t>These approved changes explain how the final solution differs from the original plan. The UAT scope already reflects these decisions.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HOW TO USE THIS SLIDE</a:t>
            </a:r>
          </a:p>
          <a:p xmlns:a="http://schemas.openxmlformats.org/drawingml/2006/main">
            <a:r>
              <a:t>Use this transition slide before readiness and testing. Make the expected decision explicit.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SUGGESTED CLIENT-FACING WORDING</a:t>
            </a:r>
          </a:p>
          <a:p xmlns:a="http://schemas.openxmlformats.org/drawingml/2006/main">
            <a:r>
              <a:t>UAT allows your authorized users to confirm that the agreed solution works for the approved business processes. At the end, we will record the acceptance status and any remaining actions.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HOW TO USE THIS SLIDE</a:t>
            </a:r>
          </a:p>
          <a:p xmlns:a="http://schemas.openxmlformats.org/drawingml/2006/main">
            <a:r>
              <a:t>Update the status immediately before the meeting. If an item is not ready, state its effect and the revised testing plan.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SUGGESTED CLIENT-FACING WORDING</a:t>
            </a:r>
          </a:p>
          <a:p xmlns:a="http://schemas.openxmlformats.org/drawingml/2006/main">
            <a:r>
              <a:t>Before testing begins, we will confirm each readiness item. Any critical gap will be resolved or the affected scenario will be rescheduled.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HOW TO USE THIS SLIDE</a:t>
            </a:r>
          </a:p>
          <a:p xmlns:a="http://schemas.openxmlformats.org/drawingml/2006/main">
            <a:r>
              <a:t>Use totals and sample records to show that the correct data was loaded. Do not expose passwords or unnecessary sensitive information.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SUGGESTED CLIENT-FACING WORDING</a:t>
            </a:r>
          </a:p>
          <a:p xmlns:a="http://schemas.openxmlformats.org/drawingml/2006/main">
            <a:r>
              <a:t>We prepared the users and test data based on the approved records. Please confirm the roles, source file, counts, and important totals before we execute the scenarios.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HOW TO USE THIS SLIDE</a:t>
            </a:r>
          </a:p>
          <a:p xmlns:a="http://schemas.openxmlformats.org/drawingml/2006/main">
            <a:r>
              <a:t>Use the full UAT document for detailed steps. This slide gives the client a clear testing map.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SUGGESTED CLIENT-FACING WORDING</a:t>
            </a:r>
          </a:p>
          <a:p xmlns:a="http://schemas.openxmlformats.org/drawingml/2006/main">
            <a:r>
              <a:t>These are the business scenarios we agreed to validate. Each tester will complete the assigned task and confirm whether the actual result matches the expected result.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HOW TO USE THIS SLIDE</a:t>
            </a:r>
          </a:p>
          <a:p xmlns:a="http://schemas.openxmlformats.org/drawingml/2006/main">
            <a:r>
              <a:t>Display this slide before the first test case. Repeat the method when new testers join.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SUGGESTED CLIENT-FACING WORDING</a:t>
            </a:r>
          </a:p>
          <a:p xmlns:a="http://schemas.openxmlformats.org/drawingml/2006/main">
            <a:r>
              <a:t>For every scenario, we will state the task, let the assigned user perform it, compare the result, save appropriate evidence, and record the status together.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HOW TO USE THIS SLIDE</a:t>
            </a:r>
          </a:p>
          <a:p xmlns:a="http://schemas.openxmlformats.org/drawingml/2006/main">
            <a:r>
              <a:t>Populate the counts and important scenario results after testing. Do not label an unexecuted scenario as passed.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SUGGESTED CLIENT-FACING WORDING</a:t>
            </a:r>
          </a:p>
          <a:p xmlns:a="http://schemas.openxmlformats.org/drawingml/2006/main">
            <a:r>
              <a:t>We completed [number] scenarios. [Number] passed, while the remaining items require the actions shown in the next slide.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HOW TO USE THIS SLIDE</a:t>
            </a:r>
          </a:p>
          <a:p xmlns:a="http://schemas.openxmlformats.org/drawingml/2006/main">
            <a:r>
              <a:t>Review each open item with the client. State whether it affects acceptance. Escalate material commitments for CEO approval before confirming them.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SUGGESTED CLIENT-FACING WORDING</a:t>
            </a:r>
          </a:p>
          <a:p xmlns:a="http://schemas.openxmlformats.org/drawingml/2006/main">
            <a:r>
              <a:t>We classified each concern so the right action is clear. These are the owners, target dates, and retesting requirements agreed during the session.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HOW TO USE THIS SLIDE</a:t>
            </a:r>
          </a:p>
          <a:p xmlns:a="http://schemas.openxmlformats.org/drawingml/2006/main">
            <a:r>
              <a:t>Select only the applicable status in the final client copy. Link the signed or written approval record after the meeting.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SUGGESTED CLIENT-FACING WORDING</a:t>
            </a:r>
          </a:p>
          <a:p xmlns:a="http://schemas.openxmlformats.org/drawingml/2006/main">
            <a:r>
              <a:t>Based on the completed tests and recorded evidence, the proposed UAT status is [status]. Please confirm the reason, conditions, and authorized approval record.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HOW TO USE THIS SLIDE</a:t>
            </a:r>
          </a:p>
          <a:p xmlns:a="http://schemas.openxmlformats.org/drawingml/2006/main">
            <a:r>
              <a:t>Confirm every owner and target date before ending. Send the written record promptly and prepare the separate final handover presentation after UAT approval.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SUGGESTED CLIENT-FACING WORDING</a:t>
            </a:r>
          </a:p>
          <a:p xmlns:a="http://schemas.openxmlformats.org/drawingml/2006/main">
            <a:r>
              <a:t>To close today’s UAT cycle, these are the agreed next steps, owners, and dates. I will send the written record for confirmation and prepare the final handover once the acceptance requirements are complete.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62ba27b107c466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f38503e8870402c" /><Relationship Type="http://schemas.openxmlformats.org/officeDocument/2006/relationships/slideLayout" Target="/ppt/slideLayouts/slideLayout1.xml" Id="R1c31bb67e03149c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c31bb67e03149c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1d6c362c8143b3" /><Relationship Type="http://schemas.openxmlformats.org/officeDocument/2006/relationships/notesSlide" Target="/ppt/notesSlides/notesSlide1.xml" Id="Rf7d777a37b22420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8cc9cbdb60488d" /><Relationship Type="http://schemas.openxmlformats.org/officeDocument/2006/relationships/notesSlide" Target="/ppt/notesSlides/notesSlide2.xml" Id="R6f0bfb445d96492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37ac80e2b74661" /><Relationship Type="http://schemas.openxmlformats.org/officeDocument/2006/relationships/notesSlide" Target="/ppt/notesSlides/notesSlide3.xml" Id="Rdc446653d2a7422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9e20ecf4434c36" /><Relationship Type="http://schemas.openxmlformats.org/officeDocument/2006/relationships/notesSlide" Target="/ppt/notesSlides/notesSlide4.xml" Id="R76f8f912f4924d8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5f76fa6ec74e47" /><Relationship Type="http://schemas.openxmlformats.org/officeDocument/2006/relationships/notesSlide" Target="/ppt/notesSlides/notesSlide5.xml" Id="Rcb586366410c4a2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8a31e9b82e4b09" /><Relationship Type="http://schemas.openxmlformats.org/officeDocument/2006/relationships/notesSlide" Target="/ppt/notesSlides/notesSlide6.xml" Id="R932c6d2029fc404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96d15ef3874f00" /><Relationship Type="http://schemas.openxmlformats.org/officeDocument/2006/relationships/notesSlide" Target="/ppt/notesSlides/notesSlide7.xml" Id="R8e9eb31020954a6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2359bba6cc4806" /><Relationship Type="http://schemas.openxmlformats.org/officeDocument/2006/relationships/notesSlide" Target="/ppt/notesSlides/notesSlide8.xml" Id="Racc805d29708467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7a9fc1b9d04199" /><Relationship Type="http://schemas.openxmlformats.org/officeDocument/2006/relationships/notesSlide" Target="/ppt/notesSlides/notesSlide9.xml" Id="R671033083064440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9bdebf008e43d3" /><Relationship Type="http://schemas.openxmlformats.org/officeDocument/2006/relationships/notesSlide" Target="/ppt/notesSlides/notesSlide10.xml" Id="Rec06e363122a40d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82eb07fdbf44a8" /><Relationship Type="http://schemas.openxmlformats.org/officeDocument/2006/relationships/notesSlide" Target="/ppt/notesSlides/notesSlide11.xml" Id="Rb1214f43644a4d7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cb6bcb348549cc" /><Relationship Type="http://schemas.openxmlformats.org/officeDocument/2006/relationships/notesSlide" Target="/ppt/notesSlides/notesSlide12.xml" Id="R8dac0baf72a8497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21ac1c55e94d53" /><Relationship Type="http://schemas.openxmlformats.org/officeDocument/2006/relationships/notesSlide" Target="/ppt/notesSlides/notesSlide13.xml" Id="R5c26eae4daee4b7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c7572964624cf6" /><Relationship Type="http://schemas.openxmlformats.org/officeDocument/2006/relationships/notesSlide" Target="/ppt/notesSlides/notesSlide14.xml" Id="R67ea96d27af64ca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0bcc71d099408b" /><Relationship Type="http://schemas.openxmlformats.org/officeDocument/2006/relationships/notesSlide" Target="/ppt/notesSlides/notesSlide15.xml" Id="R27413ebe4e8943f2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3c48b0295b4d49" /><Relationship Type="http://schemas.openxmlformats.org/officeDocument/2006/relationships/notesSlide" Target="/ppt/notesSlides/notesSlide16.xml" Id="R0263ebc81cc8402c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0878b2249a433b" /><Relationship Type="http://schemas.openxmlformats.org/officeDocument/2006/relationships/notesSlide" Target="/ppt/notesSlides/notesSlide17.xml" Id="Rd52be24d628f4b7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71B10601-1F2B-47CF-91FB-7F7C08C25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000" lnSpcReduction="2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 i="0">
                <a:solidFill>
                  <a:srgbClr val="697386"/>
                </a:solidFill>
                <a:latin typeface="Arial"/>
                <a:ea typeface="Arial"/>
                <a:cs typeface="Arial"/>
              </a:defRPr>
            </a:pPr>
            <a:r>
              <a:rPr sz="750" b="1" i="0">
                <a:solidFill>
                  <a:srgbClr val="697386"/>
                </a:solidFill>
                <a:latin typeface="Arial"/>
                <a:ea typeface="Arial"/>
                <a:cs typeface="Arial"/>
              </a:rPr>
              <a:t>STARTUPLAB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7F31FC6-60AF-4894-A6C8-3F02B5B21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57250"/>
            <a:ext cx="857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F5DCB16-E698-44E3-AC0D-D2182EDC4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38250"/>
            <a:ext cx="9239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 i="0">
                <a:solidFill>
                  <a:srgbClr val="152033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52033"/>
                </a:solidFill>
                <a:latin typeface="Arial"/>
                <a:ea typeface="Arial"/>
                <a:cs typeface="Arial"/>
              </a:rPr>
              <a:t>User Acceptance Testing</a:t>
            </a:r>
          </a:p>
          <a:p xmlns:a="http://schemas.openxmlformats.org/drawingml/2006/main">
            <a:pPr algn="l">
              <a:buNone/>
              <a:defRPr sz="3000" b="1" i="0">
                <a:solidFill>
                  <a:srgbClr val="152033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52033"/>
                </a:solidFill>
                <a:latin typeface="Arial"/>
                <a:ea typeface="Arial"/>
                <a:cs typeface="Arial"/>
              </a:rPr>
              <a:t>Progress and Decision Presentation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7A2B5A9-64EE-4878-BEF5-A42E07EF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00375"/>
            <a:ext cx="8096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97386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697386"/>
                </a:solidFill>
                <a:latin typeface="Arial"/>
                <a:ea typeface="Arial"/>
                <a:cs typeface="Arial"/>
              </a:rPr>
              <a:t>Loan Star Lending Group </a:t>
            </a:r>
            <a:r>
              <a:rPr sz="1500" b="0" i="0">
                <a:solidFill>
                  <a:srgbClr val="697386"/>
                </a:solidFill>
                <a:latin typeface="Arial"/>
                <a:ea typeface="Arial"/>
                <a:cs typeface="Arial"/>
              </a:rPr>
              <a:t>Company</a:t>
            </a:r>
            <a:r>
              <a:rPr sz="1500" b="0" i="0">
                <a:solidFill>
                  <a:srgbClr val="697386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5129F5E4-3512-4E59-A470-0A5014038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50520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697386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97386"/>
                </a:solidFill>
                <a:latin typeface="Arial"/>
                <a:ea typeface="Arial"/>
                <a:cs typeface="Arial"/>
              </a:rPr>
              <a:t>UAT Date: </a:t>
            </a:r>
            <a:r>
              <a:rPr sz="1050" b="0" i="0">
                <a:solidFill>
                  <a:srgbClr val="697386"/>
                </a:solidFill>
                <a:latin typeface="Arial"/>
                <a:ea typeface="Arial"/>
                <a:cs typeface="Arial"/>
              </a:rPr>
              <a:t>09/22/2026</a:t>
            </a:r>
            <a:r>
              <a:rPr sz="1050" b="0" i="0">
                <a:solidFill>
                  <a:srgbClr val="697386"/>
                </a:solidFill>
                <a:latin typeface="Arial"/>
                <a:ea typeface="Arial"/>
                <a:cs typeface="Arial"/>
              </a:rPr>
              <a:t>  |  |  Prepared by </a:t>
            </a:r>
            <a:r>
              <a:rPr sz="1050" b="0" i="0">
                <a:solidFill>
                  <a:srgbClr val="697386"/>
                </a:solidFill>
                <a:latin typeface="Arial"/>
                <a:ea typeface="Arial"/>
                <a:cs typeface="Arial"/>
              </a:rPr>
              <a:t>Rovick Romasanta</a:t>
            </a:r>
            <a:endParaRPr sz="1050" b="0" i="0">
              <a:solidFill>
                <a:srgbClr val="69738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56AEB8CF-6E09-414D-A3D1-B19CDE556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817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55000" lnSpcReduction="20000"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7FBC586E-E4D5-4A13-BFD6-C2A1C10B6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666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4259" lnSpcReduction="2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675" b="0" i="0">
                <a:solidFill>
                  <a:srgbClr val="697386"/>
                </a:solidFill>
                <a:latin typeface="Arial"/>
                <a:ea typeface="Arial"/>
                <a:cs typeface="Arial"/>
              </a:defRPr>
            </a:pPr>
            <a:r>
              <a:rPr sz="675" b="0" i="0">
                <a:solidFill>
                  <a:srgbClr val="69738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0592477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CAB7D29D-67CF-4356-A7E2-FE847F721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000" lnSpcReduction="2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 i="0">
                <a:solidFill>
                  <a:srgbClr val="697386"/>
                </a:solidFill>
                <a:latin typeface="Arial"/>
                <a:ea typeface="Arial"/>
                <a:cs typeface="Arial"/>
              </a:defRPr>
            </a:pPr>
            <a:r>
              <a:rPr sz="750" b="1" i="0">
                <a:solidFill>
                  <a:srgbClr val="697386"/>
                </a:solidFill>
                <a:latin typeface="Arial"/>
                <a:ea typeface="Arial"/>
                <a:cs typeface="Arial"/>
              </a:rPr>
              <a:t>STARTUPLAB</a:t>
            </a:r>
          </a:p>
        </p:txBody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5E892BF-7ACB-4534-9F8E-C9E89B89A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66700"/>
            <a:ext cx="2524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278" lnSpcReduction="2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675" b="1" i="0">
                <a:solidFill>
                  <a:srgbClr val="B77708"/>
                </a:solidFill>
                <a:latin typeface="Arial"/>
                <a:ea typeface="Arial"/>
                <a:cs typeface="Arial"/>
              </a:defRPr>
            </a:pPr>
            <a:r>
              <a:rPr sz="675" b="1" i="0">
                <a:solidFill>
                  <a:srgbClr val="B77708"/>
                </a:solidFill>
                <a:latin typeface="Arial"/>
                <a:ea typeface="Arial"/>
                <a:cs typeface="Arial"/>
              </a:rPr>
              <a:t> </a:t>
            </a:r>
            <a:endParaRPr sz="675" b="1" i="0">
              <a:solidFill>
                <a:srgbClr val="B7770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822C3AD-9C72-4377-8CA9-BB125AD88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14350"/>
            <a:ext cx="2286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4259" lnSpcReduction="2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675" b="1" i="0">
                <a:solidFill>
                  <a:srgbClr val="2F75B5"/>
                </a:solidFill>
                <a:latin typeface="Arial"/>
                <a:ea typeface="Arial"/>
                <a:cs typeface="Arial"/>
              </a:defRPr>
            </a:pPr>
            <a:r>
              <a:rPr sz="675" b="1" i="0">
                <a:solidFill>
                  <a:srgbClr val="2F75B5"/>
                </a:solidFill>
                <a:latin typeface="Arial"/>
                <a:ea typeface="Arial"/>
                <a:cs typeface="Arial"/>
              </a:rPr>
              <a:t>ORIENTATION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B4B456C-23AD-4EF0-92A8-FACA2E944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666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4259" lnSpcReduction="2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675" b="0" i="0">
                <a:solidFill>
                  <a:srgbClr val="697386"/>
                </a:solidFill>
                <a:latin typeface="Arial"/>
                <a:ea typeface="Arial"/>
                <a:cs typeface="Arial"/>
              </a:defRPr>
            </a:pPr>
            <a:r>
              <a:rPr sz="675" b="0" i="0">
                <a:solidFill>
                  <a:srgbClr val="69738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850C3F7-83E5-4F19-854A-A4C757536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1104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 i="0">
                <a:solidFill>
                  <a:srgbClr val="15203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52033"/>
                </a:solidFill>
                <a:latin typeface="Arial"/>
                <a:ea typeface="Arial"/>
                <a:cs typeface="Arial"/>
              </a:rPr>
              <a:t>UAT presentation flow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6610DE3F-A831-4348-A8AF-76AD40868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5255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697386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697386"/>
                </a:solidFill>
                <a:latin typeface="Arial"/>
                <a:ea typeface="Arial"/>
                <a:cs typeface="Arial"/>
              </a:rPr>
              <a:t>The presentation covers project progress before moving into client validation and approval.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726AF072-B93A-4096-ABB9-3C4D7E459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190750"/>
            <a:ext cx="523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0546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 i="0">
                <a:solidFill>
                  <a:srgbClr val="2F75B5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2F75B5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AA64AAA3-2E8B-4D48-80CF-B9E9E05F8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2098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152033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152033"/>
                </a:solidFill>
                <a:latin typeface="Arial"/>
                <a:ea typeface="Arial"/>
                <a:cs typeface="Arial"/>
              </a:rPr>
              <a:t>PROJECT PROGRESS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C4ECC45B-C117-4142-92EF-AA9A7FA06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571750"/>
            <a:ext cx="2000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697386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697386"/>
                </a:solidFill>
                <a:latin typeface="Arial"/>
                <a:ea typeface="Arial"/>
                <a:cs typeface="Arial"/>
              </a:rPr>
              <a:t>Objective, scope, timeline, completed work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EC5633AA-6F08-4101-9643-7DDCF6093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1825" y="2400300"/>
            <a:ext cx="171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492A64B6-B077-401E-850C-D7778A104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190750"/>
            <a:ext cx="523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0546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 i="0">
                <a:solidFill>
                  <a:srgbClr val="168A83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68A83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0C8AD091-64DB-47F4-9601-EB9AAA25B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1925" y="22098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152033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152033"/>
                </a:solidFill>
                <a:latin typeface="Arial"/>
                <a:ea typeface="Arial"/>
                <a:cs typeface="Arial"/>
              </a:rPr>
              <a:t>UAT READINESS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1296F181-443D-4A27-82B6-4F277749E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1925" y="2571750"/>
            <a:ext cx="2000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697386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697386"/>
                </a:solidFill>
                <a:latin typeface="Arial"/>
                <a:ea typeface="Arial"/>
                <a:cs typeface="Arial"/>
              </a:rPr>
              <a:t>Environment, users, data, scenarios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F9185C55-6ED5-47A3-86A9-B8F8F7A45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400300"/>
            <a:ext cx="171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45CBC2B3-277F-4EC0-927D-EA340AAE1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190750"/>
            <a:ext cx="523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0546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 i="0">
                <a:solidFill>
                  <a:srgbClr val="2F75B5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2F75B5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D7039C86-F9F3-42D4-826F-6DD3CDF36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9425" y="22098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152033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152033"/>
                </a:solidFill>
                <a:latin typeface="Arial"/>
                <a:ea typeface="Arial"/>
                <a:cs typeface="Arial"/>
              </a:rPr>
              <a:t>CLIENT TESTING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2C644538-D3D1-46D1-B321-B80FC8CE4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9425" y="2571750"/>
            <a:ext cx="2000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697386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697386"/>
                </a:solidFill>
                <a:latin typeface="Arial"/>
                <a:ea typeface="Arial"/>
                <a:cs typeface="Arial"/>
              </a:rPr>
              <a:t>Execute scenarios and record evidence</a:t>
            </a:r>
          </a:p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9C1E9CE9-F4E6-45CA-84B0-807AEB926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6825" y="2400300"/>
            <a:ext cx="171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9C2FFDA0-63B1-41B7-8F21-07752B9DE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190750"/>
            <a:ext cx="523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0546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 i="0">
                <a:solidFill>
                  <a:srgbClr val="168A83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68A83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197DA74B-3B84-4950-B3E4-C39987D44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22098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152033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152033"/>
                </a:solidFill>
                <a:latin typeface="Arial"/>
                <a:ea typeface="Arial"/>
                <a:cs typeface="Arial"/>
              </a:rPr>
              <a:t>DECISION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4397A2FD-07C5-4D26-86B2-BF1A91564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2571750"/>
            <a:ext cx="2000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697386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697386"/>
                </a:solidFill>
                <a:latin typeface="Arial"/>
                <a:ea typeface="Arial"/>
                <a:cs typeface="Arial"/>
              </a:rPr>
              <a:t>Results, actions, approval, next step</a:t>
            </a:r>
          </a:p>
        </p:txBody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229879B7-29F4-48F1-8342-7651E33F0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531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 i="0">
                <a:solidFill>
                  <a:srgbClr val="B77708"/>
                </a:solidFill>
                <a:latin typeface="Arial"/>
                <a:ea typeface="Arial"/>
                <a:cs typeface="Arial"/>
              </a:defRPr>
            </a:pPr>
            <a:r>
              <a:rPr sz="750" b="1" i="0">
                <a:solidFill>
                  <a:srgbClr val="B77708"/>
                </a:solidFill>
                <a:latin typeface="Arial"/>
                <a:ea typeface="Arial"/>
                <a:cs typeface="Arial"/>
              </a:rPr>
              <a:t>Keep the project story short enough to leave most of the session for client testing and decisions.</a:t>
            </a:r>
          </a:p>
        </p:txBody>
      </p:sp>
    </p:spTree>
    <p:extLst>
      <p:ext uri="{BB962C8B-B14F-4D97-AF65-F5344CB8AC3E}">
        <p14:creationId xmlns:p14="http://schemas.microsoft.com/office/powerpoint/2010/main" val="138037021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0E0784AB-343A-43C2-9800-BFC943389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000" lnSpcReduction="2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 i="0">
                <a:solidFill>
                  <a:srgbClr val="697386"/>
                </a:solidFill>
                <a:latin typeface="Arial"/>
                <a:ea typeface="Arial"/>
                <a:cs typeface="Arial"/>
              </a:defRPr>
            </a:pPr>
            <a:r>
              <a:rPr sz="750" b="1" i="0">
                <a:solidFill>
                  <a:srgbClr val="697386"/>
                </a:solidFill>
                <a:latin typeface="Arial"/>
                <a:ea typeface="Arial"/>
                <a:cs typeface="Arial"/>
              </a:rPr>
              <a:t>STARTUPLAB</a:t>
            </a:r>
          </a:p>
        </p:txBody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89A19337-3CFC-4E58-A59E-F3830E1E7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66700"/>
            <a:ext cx="2524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278" lnSpcReduction="2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675" b="1" i="0">
                <a:solidFill>
                  <a:srgbClr val="B77708"/>
                </a:solidFill>
                <a:latin typeface="Arial"/>
                <a:ea typeface="Arial"/>
                <a:cs typeface="Arial"/>
              </a:defRPr>
            </a:pPr>
            <a:r>
              <a:rPr sz="675" b="1" i="0">
                <a:solidFill>
                  <a:srgbClr val="B77708"/>
                </a:solidFill>
                <a:latin typeface="Arial"/>
                <a:ea typeface="Arial"/>
                <a:cs typeface="Arial"/>
              </a:rPr>
              <a:t> </a:t>
            </a:r>
            <a:endParaRPr sz="675" b="1" i="0">
              <a:solidFill>
                <a:srgbClr val="B7770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2C9A1FE-53C8-4127-A6DF-4ADD7C3E3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14350"/>
            <a:ext cx="2286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4259" lnSpcReduction="2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675" b="1" i="0">
                <a:solidFill>
                  <a:srgbClr val="2F75B5"/>
                </a:solidFill>
                <a:latin typeface="Arial"/>
                <a:ea typeface="Arial"/>
                <a:cs typeface="Arial"/>
              </a:defRPr>
            </a:pPr>
            <a:r>
              <a:rPr sz="675" b="1" i="0">
                <a:solidFill>
                  <a:srgbClr val="2F75B5"/>
                </a:solidFill>
                <a:latin typeface="Arial"/>
                <a:ea typeface="Arial"/>
                <a:cs typeface="Arial"/>
              </a:rPr>
              <a:t>PROJECT PROGRESS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21113CB-7A99-4933-9314-9D24FF784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666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4259" lnSpcReduction="2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675" b="0" i="0">
                <a:solidFill>
                  <a:srgbClr val="697386"/>
                </a:solidFill>
                <a:latin typeface="Arial"/>
                <a:ea typeface="Arial"/>
                <a:cs typeface="Arial"/>
              </a:defRPr>
            </a:pPr>
            <a:r>
              <a:rPr sz="675" b="0" i="0">
                <a:solidFill>
                  <a:srgbClr val="69738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EBDA69D-BAF0-46D0-A108-8657C3634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1104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 i="0">
                <a:solidFill>
                  <a:srgbClr val="15203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52033"/>
                </a:solidFill>
                <a:latin typeface="Arial"/>
                <a:ea typeface="Arial"/>
                <a:cs typeface="Arial"/>
              </a:rPr>
              <a:t>Project overview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6A9675E5-9992-4345-8100-AB7216344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5255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697386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697386"/>
                </a:solidFill>
                <a:latin typeface="Arial"/>
                <a:ea typeface="Arial"/>
                <a:cs typeface="Arial"/>
              </a:rPr>
              <a:t>Summarize the business reason for the project before discussing features or technical details.</a:t>
            </a:r>
          </a:p>
        </p:txBody>
      </p:sp>
      <p:graphicFrame>
        <p:nvGraphicFramePr>
          <p:cNvPr id="17" name="Table 14"/>
          <p:cNvGraphicFramePr/>
          <p:nvPr/>
        </p:nvGraphicFramePr>
        <p:xfrm>
          <a:off xmlns:a="http://schemas.openxmlformats.org/drawingml/2006/main" x="457200" y="1857375"/>
          <a:ext xmlns:a="http://schemas.openxmlformats.org/drawingml/2006/main" cx="11277600" cy="3714753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81250"/>
                <a:gridCol w="6191250"/>
                <a:gridCol w="2705100"/>
              </a:tblGrid>
              <a:tr h="530679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Topic</a:t>
                      </a:r>
                    </a:p>
                  </a:txBody>
                  <a:tcPr marL="76200" marR="76200" marT="57150" marB="57150" anchor="ctr"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Information to Present</a:t>
                      </a:r>
                    </a:p>
                  </a:txBody>
                  <a:tcPr marL="76200" marR="76200" marT="57150" marB="57150" anchor="ctr"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Client Confirmation</a:t>
                      </a:r>
                    </a:p>
                  </a:txBody>
                  <a:tcPr marL="76200" marR="76200" marT="57150" marB="57150" anchor="ctr">
                    <a:solidFill>
                      <a:srgbClr val="2F75B5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52033"/>
                          </a:solidFill>
                          <a:latin typeface="Arial"/>
                          <a:ea typeface="Arial"/>
                          <a:cs typeface="Arial"/>
                        </a:rPr>
                        <a:t>Business problem</a:t>
                      </a: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750"/>
                        <a:t>Manual, paper-based processing across CSA, CIG, Committee, LRA, AR, and Collector teams — no unified system to track a file.</a:t>
                      </a: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Confirm or revise</a:t>
                      </a:r>
                    </a:p>
                  </a:txBody>
                  <a:tcPr marL="76200" marR="76200" marT="57150" marB="57150" anchor="ctr"/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52033"/>
                          </a:solidFill>
                          <a:latin typeface="Arial"/>
                          <a:ea typeface="Arial"/>
                          <a:cs typeface="Arial"/>
                        </a:rPr>
                        <a:t>Project objective</a:t>
                      </a:r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650"/>
                        <a:t>Confirm the platform performs borrower onboarding, underwriting, committee review, release, collections, accounting, admin, and access control correctly before handover.</a:t>
                      </a:r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Confirm</a:t>
                      </a:r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52033"/>
                          </a:solidFill>
                          <a:latin typeface="Arial"/>
                          <a:ea typeface="Arial"/>
                          <a:cs typeface="Arial"/>
                        </a:rPr>
                        <a:t>Primary users</a:t>
                      </a: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750"/>
                        <a:t>Borrowers &amp; Agents (Seafarer/SME/Individual); CSA, CIG, Committee, LRA, Collector, AR, Remedial, Admin staff; Management/Executives.</a:t>
                      </a: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Confirm</a:t>
                      </a:r>
                    </a:p>
                  </a:txBody>
                  <a:tcPr marL="76200" marR="76200" marT="57150" marB="57150" anchor="ctr"/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52033"/>
                          </a:solidFill>
                          <a:latin typeface="Arial"/>
                          <a:ea typeface="Arial"/>
                          <a:cs typeface="Arial"/>
                        </a:rPr>
                        <a:t>Solution delivered</a:t>
                      </a:r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750"/>
                        <a:t>Unified digital lending platform: origination, underwriting, committee decisions, disbursement, servicing, collections, and reporting.</a:t>
                      </a:r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Confirm</a:t>
                      </a:r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52033"/>
                          </a:solidFill>
                          <a:latin typeface="Arial"/>
                          <a:ea typeface="Arial"/>
                          <a:cs typeface="Arial"/>
                        </a:rPr>
                        <a:t>Project Owner</a:t>
                      </a: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Rovick Romasanta</a:t>
                      </a: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Acknowledge</a:t>
                      </a:r>
                    </a:p>
                  </a:txBody>
                  <a:tcPr marL="76200" marR="76200" marT="57150" marB="57150" anchor="ctr"/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52033"/>
                          </a:solidFill>
                          <a:latin typeface="Arial"/>
                          <a:ea typeface="Arial"/>
                          <a:cs typeface="Arial"/>
                        </a:rPr>
                        <a:t>Authorized approver</a:t>
                      </a:r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Client approver — </a:t>
                      </a:r>
                      <a:r>
                        <a:rPr sz="975"/>
                        <a:t>Jemmy</a:t>
                      </a:r>
                      <a:r>
                        <a:rPr sz="975"/>
                        <a:t> Hsieh/Rene – Rovick Romasanta </a:t>
                      </a:r>
                      <a:endParaRPr sz="975"/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Confirm authority</a:t>
                      </a:r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C42C6307-BEF5-484C-8DB2-2B65F27F6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531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 i="0">
                <a:solidFill>
                  <a:srgbClr val="B77708"/>
                </a:solidFill>
                <a:latin typeface="Arial"/>
                <a:ea typeface="Arial"/>
                <a:cs typeface="Arial"/>
              </a:defRPr>
            </a:pPr>
            <a:r>
              <a:rPr sz="750" b="1" i="0">
                <a:solidFill>
                  <a:srgbClr val="B77708"/>
                </a:solidFill>
                <a:latin typeface="Arial"/>
                <a:ea typeface="Arial"/>
                <a:cs typeface="Arial"/>
              </a:rPr>
              <a:t>The Project Owner presents verified records and coordinates with the CEO when approval exceeds assigned authority.</a:t>
            </a:r>
          </a:p>
        </p:txBody>
      </p:sp>
    </p:spTree>
    <p:extLst>
      <p:ext uri="{BB962C8B-B14F-4D97-AF65-F5344CB8AC3E}">
        <p14:creationId xmlns:p14="http://schemas.microsoft.com/office/powerpoint/2010/main" val="138387278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DA1EF1EE-95E9-4530-8AC2-D71C6FBF9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7500" lnSpcReduction="2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 i="0">
                <a:solidFill>
                  <a:srgbClr val="697386"/>
                </a:solidFill>
                <a:latin typeface="Arial"/>
                <a:ea typeface="Arial"/>
                <a:cs typeface="Arial"/>
              </a:defRPr>
            </a:pPr>
            <a:r>
              <a:rPr sz="750" b="1" i="0">
                <a:solidFill>
                  <a:srgbClr val="697386"/>
                </a:solidFill>
                <a:latin typeface="Arial"/>
                <a:ea typeface="Arial"/>
                <a:cs typeface="Arial"/>
              </a:rPr>
              <a:t>STARTUPLAB</a:t>
            </a:r>
          </a:p>
        </p:txBody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6C945CB8-90C7-4CCE-A01E-AA7BF2DF7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66700"/>
            <a:ext cx="2524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278" lnSpcReduction="2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675" b="1" i="0">
                <a:solidFill>
                  <a:srgbClr val="B77708"/>
                </a:solidFill>
                <a:latin typeface="Arial"/>
                <a:ea typeface="Arial"/>
                <a:cs typeface="Arial"/>
              </a:defRPr>
            </a:pPr>
            <a:r>
              <a:rPr sz="675" b="1" i="0">
                <a:solidFill>
                  <a:srgbClr val="B77708"/>
                </a:solidFill>
                <a:latin typeface="Arial"/>
                <a:ea typeface="Arial"/>
                <a:cs typeface="Arial"/>
              </a:rPr>
              <a:t> </a:t>
            </a:r>
            <a:endParaRPr sz="675" b="1" i="0">
              <a:solidFill>
                <a:srgbClr val="B7770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A21A2F6-5AD8-4091-AE61-267899AAF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14350"/>
            <a:ext cx="2286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66759" lnSpcReduction="2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675" b="1" i="0">
                <a:solidFill>
                  <a:srgbClr val="2F75B5"/>
                </a:solidFill>
                <a:latin typeface="Arial"/>
                <a:ea typeface="Arial"/>
                <a:cs typeface="Arial"/>
              </a:defRPr>
            </a:pPr>
            <a:r>
              <a:rPr sz="675" b="1" i="0">
                <a:solidFill>
                  <a:srgbClr val="2F75B5"/>
                </a:solidFill>
                <a:latin typeface="Arial"/>
                <a:ea typeface="Arial"/>
                <a:cs typeface="Arial"/>
              </a:rPr>
              <a:t>PROJECT PROGRESS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4A6C2CB-D7A0-45C8-9901-F80BA3A45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666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66759" lnSpcReduction="2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675" b="0" i="0">
                <a:solidFill>
                  <a:srgbClr val="697386"/>
                </a:solidFill>
                <a:latin typeface="Arial"/>
                <a:ea typeface="Arial"/>
                <a:cs typeface="Arial"/>
              </a:defRPr>
            </a:pPr>
            <a:r>
              <a:rPr sz="675" b="0" i="0">
                <a:solidFill>
                  <a:srgbClr val="69738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DD24FFB-6FC2-47D4-9558-9B4553228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1104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 i="0">
                <a:solidFill>
                  <a:srgbClr val="15203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52033"/>
                </a:solidFill>
                <a:latin typeface="Arial"/>
                <a:ea typeface="Arial"/>
                <a:cs typeface="Arial"/>
              </a:rPr>
              <a:t>Approved scope and success criteria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781F87BB-47E2-4BD3-A01D-2AEE9E97E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5255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697386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697386"/>
                </a:solidFill>
                <a:latin typeface="Arial"/>
                <a:ea typeface="Arial"/>
                <a:cs typeface="Arial"/>
              </a:rPr>
              <a:t>Set the testing boundary before showing progress or accepting new requests.</a:t>
            </a:r>
          </a:p>
        </p:txBody>
      </p:sp>
      <p:graphicFrame>
        <p:nvGraphicFramePr>
          <p:cNvPr id="17" name="Table 14"/>
          <p:cNvGraphicFramePr/>
          <p:nvPr/>
        </p:nvGraphicFramePr>
        <p:xfrm>
          <a:off xmlns:a="http://schemas.openxmlformats.org/drawingml/2006/main" x="457200" y="1857375"/>
          <a:ext xmlns:a="http://schemas.openxmlformats.org/drawingml/2006/main" cx="11277600" cy="3714753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81250"/>
                <a:gridCol w="6238875"/>
                <a:gridCol w="2657475"/>
              </a:tblGrid>
              <a:tr h="530679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Area</a:t>
                      </a:r>
                    </a:p>
                  </a:txBody>
                  <a:tcPr marL="76200" marR="76200" marT="57150" marB="57150" anchor="ctr"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Approved Requirement or Measure</a:t>
                      </a:r>
                    </a:p>
                  </a:txBody>
                  <a:tcPr marL="76200" marR="76200" marT="57150" marB="57150" anchor="ctr"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Status / Evidence</a:t>
                      </a:r>
                    </a:p>
                  </a:txBody>
                  <a:tcPr marL="76200" marR="76200" marT="57150" marB="57150" anchor="ctr">
                    <a:solidFill>
                      <a:srgbClr val="2F75B5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52033"/>
                          </a:solidFill>
                          <a:latin typeface="Arial"/>
                          <a:ea typeface="Arial"/>
                          <a:cs typeface="Arial"/>
                        </a:rPr>
                        <a:t>Included scope</a:t>
                      </a: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650"/>
                        <a:t>14 modules / 5 areas: Onboarding (Registration, Borrower Portal, Agent Leads); Underwriting (CSA, CIG, Committee, LRA); Servicing (Briefings, AR, Collector DCR, Remedial); Admin (Reports, Dashboard, Users); Controls (Auth, RBAC, Redirects).</a:t>
                      </a: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UAT Plan Appendix A, POL-006</a:t>
                      </a:r>
                    </a:p>
                  </a:txBody>
                  <a:tcPr marL="76200" marR="76200" marT="57150" marB="57150" anchor="ctr"/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52033"/>
                          </a:solidFill>
                          <a:latin typeface="Arial"/>
                          <a:ea typeface="Arial"/>
                          <a:cs typeface="Arial"/>
                        </a:rPr>
                        <a:t>Out of scope</a:t>
                      </a:r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750"/>
                        <a:t>footer Legal pages (placeholder links); session persistence via standard browser cookies only.</a:t>
                      </a:r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Approved for this release</a:t>
                      </a:r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52033"/>
                          </a:solidFill>
                          <a:latin typeface="Arial"/>
                          <a:ea typeface="Arial"/>
                          <a:cs typeface="Arial"/>
                        </a:rPr>
                        <a:t>Success measure 1</a:t>
                      </a: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875"/>
                        <a:t>A case in Appendix B is Passed only when the actual result matches the expected result exactly.</a:t>
                      </a: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POL-006 section 8.4</a:t>
                      </a:r>
                    </a:p>
                  </a:txBody>
                  <a:tcPr marL="76200" marR="76200" marT="57150" marB="57150" anchor="ctr"/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52033"/>
                          </a:solidFill>
                          <a:latin typeface="Arial"/>
                          <a:ea typeface="Arial"/>
                          <a:cs typeface="Arial"/>
                        </a:rPr>
                        <a:t>Success measure 2</a:t>
                      </a:r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875"/>
                        <a:t>A module is accepted when all its cases are Passed or Accepted with Minor Actions.</a:t>
                      </a:r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POL-006 section 8.4</a:t>
                      </a:r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52033"/>
                          </a:solidFill>
                          <a:latin typeface="Arial"/>
                          <a:ea typeface="Arial"/>
                          <a:cs typeface="Arial"/>
                        </a:rPr>
                        <a:t>Acceptance basis</a:t>
                      </a: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POL-006 UAT and Final Project Handover Policy — Appendix A &amp; B.</a:t>
                      </a: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Appendix A/B, POL-006</a:t>
                      </a:r>
                    </a:p>
                  </a:txBody>
                  <a:tcPr marL="76200" marR="76200" marT="57150" marB="57150" anchor="ctr"/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52033"/>
                          </a:solidFill>
                          <a:latin typeface="Arial"/>
                          <a:ea typeface="Arial"/>
                          <a:cs typeface="Arial"/>
                        </a:rPr>
                        <a:t>Known limitation</a:t>
                      </a:r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The three items above are accepted limitations for this release.</a:t>
                      </a:r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Client acknowledgment pending</a:t>
                      </a:r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2757988C-E875-46EF-8D9E-D248F34CE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531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 i="0">
                <a:solidFill>
                  <a:srgbClr val="B77708"/>
                </a:solidFill>
                <a:latin typeface="Arial"/>
                <a:ea typeface="Arial"/>
                <a:cs typeface="Arial"/>
              </a:defRPr>
            </a:pPr>
            <a:r>
              <a:rPr sz="750" b="1" i="0">
                <a:solidFill>
                  <a:srgbClr val="B77708"/>
                </a:solidFill>
                <a:latin typeface="Arial"/>
                <a:ea typeface="Arial"/>
                <a:cs typeface="Arial"/>
              </a:rPr>
              <a:t>Record new requests separately. Assess scope, cost, timeline, and risk before making a commitment.</a:t>
            </a:r>
          </a:p>
        </p:txBody>
      </p:sp>
    </p:spTree>
    <p:extLst>
      <p:ext uri="{BB962C8B-B14F-4D97-AF65-F5344CB8AC3E}">
        <p14:creationId xmlns:p14="http://schemas.microsoft.com/office/powerpoint/2010/main" val="6384128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Rectangle 38">
            <a:extLst xmlns:a="http://schemas.openxmlformats.org/drawingml/2006/main">
              <a:ext uri="{FF2B5EF4-FFF2-40B4-BE49-F238E27FC236}">
                <a16:creationId xmlns:a16="http://schemas.microsoft.com/office/drawing/2014/main" id="{7D255F8D-66A8-429D-9B45-389B630BE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000" lnSpcReduction="2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 i="0">
                <a:solidFill>
                  <a:srgbClr val="697386"/>
                </a:solidFill>
                <a:latin typeface="Arial"/>
                <a:ea typeface="Arial"/>
                <a:cs typeface="Arial"/>
              </a:defRPr>
            </a:pPr>
            <a:r>
              <a:rPr sz="750" b="1" i="0">
                <a:solidFill>
                  <a:srgbClr val="697386"/>
                </a:solidFill>
                <a:latin typeface="Arial"/>
                <a:ea typeface="Arial"/>
                <a:cs typeface="Arial"/>
              </a:rPr>
              <a:t>STARTUPLAB</a:t>
            </a:r>
          </a:p>
        </p:txBody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ED39543-32CC-4798-82F6-CDA714215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66700"/>
            <a:ext cx="2524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278" lnSpcReduction="2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675" b="1" i="0">
                <a:solidFill>
                  <a:srgbClr val="B77708"/>
                </a:solidFill>
                <a:latin typeface="Arial"/>
                <a:ea typeface="Arial"/>
                <a:cs typeface="Arial"/>
              </a:defRPr>
            </a:pPr>
            <a:r>
              <a:rPr sz="675" b="1" i="0">
                <a:solidFill>
                  <a:srgbClr val="B77708"/>
                </a:solidFill>
                <a:latin typeface="Arial"/>
                <a:ea typeface="Arial"/>
                <a:cs typeface="Arial"/>
              </a:rPr>
              <a:t> </a:t>
            </a:r>
            <a:endParaRPr sz="675" b="1" i="0">
              <a:solidFill>
                <a:srgbClr val="B7770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5720A816-D509-45F0-A810-B57D7A027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14350"/>
            <a:ext cx="2286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4259" lnSpcReduction="2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675" b="1" i="0">
                <a:solidFill>
                  <a:srgbClr val="2F75B5"/>
                </a:solidFill>
                <a:latin typeface="Arial"/>
                <a:ea typeface="Arial"/>
                <a:cs typeface="Arial"/>
              </a:defRPr>
            </a:pPr>
            <a:r>
              <a:rPr sz="675" b="1" i="0">
                <a:solidFill>
                  <a:srgbClr val="2F75B5"/>
                </a:solidFill>
                <a:latin typeface="Arial"/>
                <a:ea typeface="Arial"/>
                <a:cs typeface="Arial"/>
              </a:rPr>
              <a:t>PROJECT PROGRESS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B098E62-D8FA-4DBE-BD49-003515CC4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666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4259" lnSpcReduction="2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675" b="0" i="0">
                <a:solidFill>
                  <a:srgbClr val="697386"/>
                </a:solidFill>
                <a:latin typeface="Arial"/>
                <a:ea typeface="Arial"/>
                <a:cs typeface="Arial"/>
              </a:defRPr>
            </a:pPr>
            <a:r>
              <a:rPr sz="675" b="0" i="0">
                <a:solidFill>
                  <a:srgbClr val="69738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12B700A-6AC0-4EE2-B15F-714A33CFA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1104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 i="0">
                <a:solidFill>
                  <a:srgbClr val="15203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52033"/>
                </a:solidFill>
                <a:latin typeface="Arial"/>
                <a:ea typeface="Arial"/>
                <a:cs typeface="Arial"/>
              </a:rPr>
              <a:t>Project timeline and current position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B6D40387-414B-4C83-B843-71E343643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5255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697386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697386"/>
                </a:solidFill>
                <a:latin typeface="Arial"/>
                <a:ea typeface="Arial"/>
                <a:cs typeface="Arial"/>
              </a:rPr>
              <a:t>Show the client how the project moved from approval to UAT.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6282B929-357C-47E1-A3EF-4431E167E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43250"/>
            <a:ext cx="9906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Rectangle: Rounded Corners 7">
            <a:extLst xmlns:a="http://schemas.openxmlformats.org/drawingml/2006/main">
              <a:ext uri="{FF2B5EF4-FFF2-40B4-BE49-F238E27FC236}">
                <a16:creationId xmlns:a16="http://schemas.microsoft.com/office/drawing/2014/main" id="{4D816E18-BC34-4931-B469-CF5E4AF36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009900"/>
            <a:ext cx="2667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168A83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07B946B7-D3A5-41B1-BF8A-609C9BE8D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038475"/>
            <a:ext cx="266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6667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B08DB526-7DE7-45DD-A2E7-B40710B11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242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 i="0">
                <a:solidFill>
                  <a:srgbClr val="152033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152033"/>
                </a:solidFill>
                <a:latin typeface="Arial"/>
                <a:ea typeface="Arial"/>
                <a:cs typeface="Arial"/>
              </a:rPr>
              <a:t>DISCOVERY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0C194935-922F-4D11-A94E-944285AF8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29050"/>
            <a:ext cx="104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6288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0" i="0">
                <a:solidFill>
                  <a:srgbClr val="697386"/>
                </a:solidFill>
                <a:latin typeface="Arial"/>
                <a:ea typeface="Arial"/>
                <a:cs typeface="Arial"/>
              </a:defRPr>
            </a:pPr>
            <a:endParaRPr sz="825" b="0" i="0">
              <a:solidFill>
                <a:srgbClr val="69738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E9CD2696-DFAA-424F-A58C-ACC9D695F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67162"/>
            <a:ext cx="1200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62500" lnSpcReduction="20000"/>
          </a:bodyPr>
          <a:lstStyle xmlns:a="http://schemas.openxmlformats.org/drawingml/2006/main"/>
          <a:p xmlns:a="http://schemas.openxmlformats.org/drawingml/2006/main">
            <a:r>
              <a:t>Approved requirements &amp; 14-module scope</a:t>
            </a:r>
          </a:p>
        </p:txBody>
      </p:sp>
      <p:sp>
        <p:nvSpPr>
          <p:cNvPr id="13" name="Rectangle: Rounded Corners 12">
            <a:extLst xmlns:a="http://schemas.openxmlformats.org/drawingml/2006/main">
              <a:ext uri="{FF2B5EF4-FFF2-40B4-BE49-F238E27FC236}">
                <a16:creationId xmlns:a16="http://schemas.microsoft.com/office/drawing/2014/main" id="{5D64564F-26C5-4B6C-8495-41865C9F6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009900"/>
            <a:ext cx="2667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168A83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1208D542-4BF0-4A7A-9DC0-673874392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038475"/>
            <a:ext cx="266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6667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E3B0CFD3-E862-4D4A-835D-19B489D07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5242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 i="0">
                <a:solidFill>
                  <a:srgbClr val="152033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152033"/>
                </a:solidFill>
                <a:latin typeface="Arial"/>
                <a:ea typeface="Arial"/>
                <a:cs typeface="Arial"/>
              </a:rPr>
              <a:t>DESIGN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F24C2567-C372-449B-AD50-27EF35EF5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829050"/>
            <a:ext cx="104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6288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0" i="0">
                <a:solidFill>
                  <a:srgbClr val="697386"/>
                </a:solidFill>
                <a:latin typeface="Arial"/>
                <a:ea typeface="Arial"/>
                <a:cs typeface="Arial"/>
              </a:defRPr>
            </a:pPr>
            <a:endParaRPr sz="825" b="0" i="0">
              <a:solidFill>
                <a:srgbClr val="69738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6D4A55CA-0380-49CF-A39F-922546A54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967162"/>
            <a:ext cx="1200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0000" lnSpcReduction="20000"/>
          </a:bodyPr>
          <a:lstStyle xmlns:a="http://schemas.openxmlformats.org/drawingml/2006/main"/>
          <a:p xmlns:a="http://schemas.openxmlformats.org/drawingml/2006/main">
            <a:r>
              <a:t>D</a:t>
            </a:r>
            <a:r>
              <a:t>esign system UI/UX finalized</a:t>
            </a:r>
          </a:p>
        </p:txBody>
      </p:sp>
      <p:sp>
        <p:nvSpPr>
          <p:cNvPr id="18" name="Rectangle: Rounded Corners 17">
            <a:extLst xmlns:a="http://schemas.openxmlformats.org/drawingml/2006/main">
              <a:ext uri="{FF2B5EF4-FFF2-40B4-BE49-F238E27FC236}">
                <a16:creationId xmlns:a16="http://schemas.microsoft.com/office/drawing/2014/main" id="{8A746FC1-B9BA-4BF2-B9A8-14C2394D6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3009900"/>
            <a:ext cx="2667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168A83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B47ED4B6-3F2F-4790-8ED3-396A75FCD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3038475"/>
            <a:ext cx="266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6667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33705193-2DD1-4F94-A35A-498930274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5242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 i="0">
                <a:solidFill>
                  <a:srgbClr val="152033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152033"/>
                </a:solidFill>
                <a:latin typeface="Arial"/>
                <a:ea typeface="Arial"/>
                <a:cs typeface="Arial"/>
              </a:rPr>
              <a:t>BUILD</a:t>
            </a:r>
          </a:p>
        </p:txBody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8AA331FA-513E-4D1F-AC94-57AD0BF58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967162"/>
            <a:ext cx="1200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62500" lnSpcReduction="20000"/>
          </a:bodyPr>
          <a:lstStyle xmlns:a="http://schemas.openxmlformats.org/drawingml/2006/main"/>
          <a:p xmlns:a="http://schemas.openxmlformats.org/drawingml/2006/main">
            <a:r>
              <a:t>14 modules built end to end</a:t>
            </a:r>
          </a:p>
        </p:txBody>
      </p:sp>
      <p:sp>
        <p:nvSpPr>
          <p:cNvPr id="23" name="Rectangle: Rounded Corners 22">
            <a:extLst xmlns:a="http://schemas.openxmlformats.org/drawingml/2006/main">
              <a:ext uri="{FF2B5EF4-FFF2-40B4-BE49-F238E27FC236}">
                <a16:creationId xmlns:a16="http://schemas.microsoft.com/office/drawing/2014/main" id="{EB5C54CA-C826-4D85-90CE-D446BFB8A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009900"/>
            <a:ext cx="2667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168A83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D390E2BD-3CF2-4895-BD2F-710574ABF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038475"/>
            <a:ext cx="266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6667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EC4944BC-2F73-4644-9380-BFDE8A686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242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9246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 i="0">
                <a:solidFill>
                  <a:srgbClr val="152033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152033"/>
                </a:solidFill>
                <a:latin typeface="Arial"/>
                <a:ea typeface="Arial"/>
                <a:cs typeface="Arial"/>
              </a:rPr>
              <a:t>INTERNAL TEST</a:t>
            </a:r>
          </a:p>
        </p:txBody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8B809556-0833-4C5E-9C00-1001E087E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829050"/>
            <a:ext cx="104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6288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0" i="0">
                <a:solidFill>
                  <a:srgbClr val="697386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97386"/>
                </a:solidFill>
                <a:latin typeface="Arial"/>
                <a:ea typeface="Arial"/>
                <a:cs typeface="Arial"/>
              </a:rPr>
              <a:t>TBD</a:t>
            </a:r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10721F16-A122-4CEA-AB8D-DC4A14159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967162"/>
            <a:ext cx="1200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62500" lnSpcReduction="20000"/>
          </a:bodyPr>
          <a:lstStyle xmlns:a="http://schemas.openxmlformats.org/drawingml/2006/main"/>
          <a:p xmlns:a="http://schemas.openxmlformats.org/drawingml/2006/main">
            <a:r>
              <a:t>Internal QA &amp; E2E simulation done</a:t>
            </a:r>
          </a:p>
        </p:txBody>
      </p:sp>
      <p:sp>
        <p:nvSpPr>
          <p:cNvPr id="28" name="Rectangle: Rounded Corners 27">
            <a:extLst xmlns:a="http://schemas.openxmlformats.org/drawingml/2006/main">
              <a:ext uri="{FF2B5EF4-FFF2-40B4-BE49-F238E27FC236}">
                <a16:creationId xmlns:a16="http://schemas.microsoft.com/office/drawing/2014/main" id="{FBC55D6E-597E-4361-8822-BAA6015C2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009900"/>
            <a:ext cx="2667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B7770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9766A2CE-C6FE-4EA8-A9B5-50BB17735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038475"/>
            <a:ext cx="266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6667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DF2ED600-6AB9-4024-BAF4-0F946897D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5242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 i="0">
                <a:solidFill>
                  <a:srgbClr val="152033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152033"/>
                </a:solidFill>
                <a:latin typeface="Arial"/>
                <a:ea typeface="Arial"/>
                <a:cs typeface="Arial"/>
              </a:rPr>
              <a:t>UAT</a:t>
            </a:r>
          </a:p>
        </p:txBody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F7CD1743-8BE9-4E42-960D-F801D7220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967162"/>
            <a:ext cx="1200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0" i="0">
                <a:solidFill>
                  <a:srgbClr val="697386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97386"/>
                </a:solidFill>
                <a:latin typeface="Arial"/>
                <a:ea typeface="Arial"/>
                <a:cs typeface="Arial"/>
              </a:rPr>
              <a:t>110 test cases ready (Appx B)</a:t>
            </a:r>
          </a:p>
        </p:txBody>
      </p:sp>
      <p:sp>
        <p:nvSpPr>
          <p:cNvPr id="33" name="Rectangle: Rounded Corners 32">
            <a:extLst xmlns:a="http://schemas.openxmlformats.org/drawingml/2006/main">
              <a:ext uri="{FF2B5EF4-FFF2-40B4-BE49-F238E27FC236}">
                <a16:creationId xmlns:a16="http://schemas.microsoft.com/office/drawing/2014/main" id="{C7F8AB37-8FCB-4EF3-BBA2-13B46F0CB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009900"/>
            <a:ext cx="2667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2F75B5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776463D2-3557-4ABE-A2FC-4C08C0090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038475"/>
            <a:ext cx="266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6667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6EC0B313-576D-423D-BEE3-2E85B0787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35242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 i="0">
                <a:solidFill>
                  <a:srgbClr val="152033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152033"/>
                </a:solidFill>
                <a:latin typeface="Arial"/>
                <a:ea typeface="Arial"/>
                <a:cs typeface="Arial"/>
              </a:rPr>
              <a:t>HANDOVER</a:t>
            </a:r>
          </a:p>
        </p:txBody>
      </p:sp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45229F38-33BF-4C0E-9D1F-1344131AD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3967162"/>
            <a:ext cx="1200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0" i="0">
                <a:solidFill>
                  <a:srgbClr val="697386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97386"/>
                </a:solidFill>
                <a:latin typeface="Arial"/>
                <a:ea typeface="Arial"/>
                <a:cs typeface="Arial"/>
              </a:rPr>
              <a:t>Signed UAT acceptance (Appx G)</a:t>
            </a:r>
          </a:p>
        </p:txBody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932E150A-FB7E-4CBF-B55C-9FF1E83A6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531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 i="0">
                <a:solidFill>
                  <a:srgbClr val="B77708"/>
                </a:solidFill>
                <a:latin typeface="Arial"/>
                <a:ea typeface="Arial"/>
                <a:cs typeface="Arial"/>
              </a:defRPr>
            </a:pPr>
            <a:r>
              <a:rPr sz="750" b="1" i="0">
                <a:solidFill>
                  <a:srgbClr val="B77708"/>
                </a:solidFill>
                <a:latin typeface="Arial"/>
                <a:ea typeface="Arial"/>
                <a:cs typeface="Arial"/>
              </a:rPr>
              <a:t>Use actual approval and completion dates. Do not present estimated work as completed work.</a:t>
            </a:r>
          </a:p>
        </p:txBody>
      </p:sp>
    </p:spTree>
    <p:extLst>
      <p:ext uri="{BB962C8B-B14F-4D97-AF65-F5344CB8AC3E}">
        <p14:creationId xmlns:p14="http://schemas.microsoft.com/office/powerpoint/2010/main" val="204515822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FA4202DE-1269-47BE-82DC-88B855252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000" lnSpcReduction="2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 i="0">
                <a:solidFill>
                  <a:srgbClr val="697386"/>
                </a:solidFill>
                <a:latin typeface="Arial"/>
                <a:ea typeface="Arial"/>
                <a:cs typeface="Arial"/>
              </a:defRPr>
            </a:pPr>
            <a:r>
              <a:rPr sz="750" b="1" i="0">
                <a:solidFill>
                  <a:srgbClr val="697386"/>
                </a:solidFill>
                <a:latin typeface="Arial"/>
                <a:ea typeface="Arial"/>
                <a:cs typeface="Arial"/>
              </a:rPr>
              <a:t>STARTUPLAB</a:t>
            </a:r>
          </a:p>
        </p:txBody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6BE69E08-161C-488A-83F9-5F332597F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66700"/>
            <a:ext cx="2524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278" lnSpcReduction="2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675" b="1" i="0">
                <a:solidFill>
                  <a:srgbClr val="B77708"/>
                </a:solidFill>
                <a:latin typeface="Arial"/>
                <a:ea typeface="Arial"/>
                <a:cs typeface="Arial"/>
              </a:defRPr>
            </a:pPr>
            <a:r>
              <a:rPr sz="675" b="1" i="0">
                <a:solidFill>
                  <a:srgbClr val="B77708"/>
                </a:solidFill>
                <a:latin typeface="Arial"/>
                <a:ea typeface="Arial"/>
                <a:cs typeface="Arial"/>
              </a:rPr>
              <a:t> </a:t>
            </a:r>
            <a:endParaRPr sz="675" b="1" i="0">
              <a:solidFill>
                <a:srgbClr val="B7770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D8327BEE-289B-48EB-AD4A-538798C55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14350"/>
            <a:ext cx="2286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4259" lnSpcReduction="2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675" b="1" i="0">
                <a:solidFill>
                  <a:srgbClr val="2F75B5"/>
                </a:solidFill>
                <a:latin typeface="Arial"/>
                <a:ea typeface="Arial"/>
                <a:cs typeface="Arial"/>
              </a:defRPr>
            </a:pPr>
            <a:r>
              <a:rPr sz="675" b="1" i="0">
                <a:solidFill>
                  <a:srgbClr val="2F75B5"/>
                </a:solidFill>
                <a:latin typeface="Arial"/>
                <a:ea typeface="Arial"/>
                <a:cs typeface="Arial"/>
              </a:rPr>
              <a:t>PROJECT PROGRESS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9723FE8-9E44-43EC-BD41-91325953F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666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4259" lnSpcReduction="2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675" b="0" i="0">
                <a:solidFill>
                  <a:srgbClr val="697386"/>
                </a:solidFill>
                <a:latin typeface="Arial"/>
                <a:ea typeface="Arial"/>
                <a:cs typeface="Arial"/>
              </a:defRPr>
            </a:pPr>
            <a:r>
              <a:rPr sz="675" b="0" i="0">
                <a:solidFill>
                  <a:srgbClr val="697386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9C890C8-D956-4AF7-B287-122EA48C3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1104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 i="0">
                <a:solidFill>
                  <a:srgbClr val="15203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52033"/>
                </a:solidFill>
                <a:latin typeface="Arial"/>
                <a:ea typeface="Arial"/>
                <a:cs typeface="Arial"/>
              </a:rPr>
              <a:t>Overall project progress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BDD0AE88-F7DC-4174-A90B-12BDE8C84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5255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697386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697386"/>
                </a:solidFill>
                <a:latin typeface="Arial"/>
                <a:ea typeface="Arial"/>
                <a:cs typeface="Arial"/>
              </a:rPr>
              <a:t>Present completion by deliverable, supported by evidence rather than a general percentage alone.</a:t>
            </a:r>
          </a:p>
        </p:txBody>
      </p:sp>
      <p:graphicFrame>
        <p:nvGraphicFramePr>
          <p:cNvPr id="17" name="Table 14"/>
          <p:cNvGraphicFramePr/>
          <p:nvPr/>
        </p:nvGraphicFramePr>
        <p:xfrm>
          <a:off xmlns:a="http://schemas.openxmlformats.org/drawingml/2006/main" x="457200" y="1857375"/>
          <a:ext xmlns:a="http://schemas.openxmlformats.org/drawingml/2006/main" cx="11277600" cy="3714753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619375"/>
                <a:gridCol w="3714750"/>
                <a:gridCol w="1571625"/>
                <a:gridCol w="3371850"/>
              </a:tblGrid>
              <a:tr h="530679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Deliverable</a:t>
                      </a:r>
                    </a:p>
                  </a:txBody>
                  <a:tcPr marL="76200" marR="76200" marT="57150" marB="57150" anchor="ctr"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Planned Output</a:t>
                      </a:r>
                    </a:p>
                  </a:txBody>
                  <a:tcPr marL="76200" marR="76200" marT="57150" marB="57150" anchor="ctr"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Progress</a:t>
                      </a:r>
                    </a:p>
                  </a:txBody>
                  <a:tcPr marL="76200" marR="76200" marT="57150" marB="57150" anchor="ctr"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Evidence / Comment</a:t>
                      </a:r>
                    </a:p>
                  </a:txBody>
                  <a:tcPr marL="76200" marR="76200" marT="57150" marB="57150" anchor="ctr">
                    <a:solidFill>
                      <a:srgbClr val="2F75B5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Borrower &amp; Agent Onboarding</a:t>
                      </a: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Registration, Borrower Portal, Agent Leads</a:t>
                      </a: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Ready for UAT</a:t>
                      </a: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UAT-001–023 ready</a:t>
                      </a:r>
                    </a:p>
                  </a:txBody>
                  <a:tcPr marL="76200" marR="76200" marT="57150" marB="57150" anchor="ctr"/>
                </a:tc>
              </a:tr>
              <a:tr h="530679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Underwriting Workflow</a:t>
                      </a:r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CSA Intake, CIG Verification, Committee, LRA Release</a:t>
                      </a:r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Ready for UAT</a:t>
                      </a:r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UAT-024–048, 097–110</a:t>
                      </a:r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Post-Disbursement &amp; Servicing</a:t>
                      </a: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Briefings, AR Ledger, Collector DCR, Remedial</a:t>
                      </a: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Ready for UAT</a:t>
                      </a: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UAT-049–067 ready</a:t>
                      </a:r>
                    </a:p>
                  </a:txBody>
                  <a:tcPr marL="76200" marR="76200" marT="57150" marB="57150" anchor="ctr"/>
                </a:tc>
              </a:tr>
              <a:tr h="530679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Management &amp; Administration</a:t>
                      </a:r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Reports, Dashboard Hub, User &amp; Role Mgmt</a:t>
                      </a:r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Ready for UAT</a:t>
                      </a:r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UAT-068–082 ready</a:t>
                      </a:r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System-Wide Controls</a:t>
                      </a: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Authentication, Password Reset, RBAC, Redirects</a:t>
                      </a: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Ready for UAT</a:t>
                      </a: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UAT-083–096 ready</a:t>
                      </a:r>
                    </a:p>
                  </a:txBody>
                  <a:tcPr marL="76200" marR="76200" marT="57150" marB="57150" anchor="ctr"/>
                </a:tc>
              </a:tr>
              <a:tr h="530679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OVERALL</a:t>
                      </a:r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14 modules, 110 UAT test cases</a:t>
                      </a:r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All modules ready for UAT</a:t>
                      </a:r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Testing dates TBD</a:t>
                      </a:r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D4DC5B6D-4665-4DE1-BF48-A5D2DBF3F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531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 i="0">
                <a:solidFill>
                  <a:srgbClr val="B77708"/>
                </a:solidFill>
                <a:latin typeface="Arial"/>
                <a:ea typeface="Arial"/>
                <a:cs typeface="Arial"/>
              </a:defRPr>
            </a:pPr>
            <a:r>
              <a:rPr sz="750" b="1" i="0">
                <a:solidFill>
                  <a:srgbClr val="B77708"/>
                </a:solidFill>
                <a:latin typeface="Arial"/>
                <a:ea typeface="Arial"/>
                <a:cs typeface="Arial"/>
              </a:rPr>
              <a:t>Use a documented calculation for the overall percentage. Clearly separate completed, in progress, blocked, and deferred work.</a:t>
            </a:r>
          </a:p>
        </p:txBody>
      </p:sp>
    </p:spTree>
    <p:extLst>
      <p:ext uri="{BB962C8B-B14F-4D97-AF65-F5344CB8AC3E}">
        <p14:creationId xmlns:p14="http://schemas.microsoft.com/office/powerpoint/2010/main" val="41114566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F080927D-D3B7-49B8-A54B-A7565B5FA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000" lnSpcReduction="2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 i="0">
                <a:solidFill>
                  <a:srgbClr val="697386"/>
                </a:solidFill>
                <a:latin typeface="Arial"/>
                <a:ea typeface="Arial"/>
                <a:cs typeface="Arial"/>
              </a:defRPr>
            </a:pPr>
            <a:r>
              <a:rPr sz="750" b="1" i="0">
                <a:solidFill>
                  <a:srgbClr val="697386"/>
                </a:solidFill>
                <a:latin typeface="Arial"/>
                <a:ea typeface="Arial"/>
                <a:cs typeface="Arial"/>
              </a:rPr>
              <a:t>STARTUPLAB</a:t>
            </a:r>
          </a:p>
        </p:txBody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3BBB10D0-D347-4E4B-BA42-EBE2EF1F4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66700"/>
            <a:ext cx="2524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278" lnSpcReduction="2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675" b="1" i="0">
                <a:solidFill>
                  <a:srgbClr val="B77708"/>
                </a:solidFill>
                <a:latin typeface="Arial"/>
                <a:ea typeface="Arial"/>
                <a:cs typeface="Arial"/>
              </a:defRPr>
            </a:pPr>
            <a:r>
              <a:rPr sz="675" b="1" i="0">
                <a:solidFill>
                  <a:srgbClr val="B77708"/>
                </a:solidFill>
                <a:latin typeface="Arial"/>
                <a:ea typeface="Arial"/>
                <a:cs typeface="Arial"/>
              </a:rPr>
              <a:t> </a:t>
            </a:r>
            <a:endParaRPr sz="675" b="1" i="0">
              <a:solidFill>
                <a:srgbClr val="B7770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C8F3BC4-7040-4747-9B1F-932641F44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14350"/>
            <a:ext cx="2286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4259" lnSpcReduction="2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675" b="1" i="0">
                <a:solidFill>
                  <a:srgbClr val="2F75B5"/>
                </a:solidFill>
                <a:latin typeface="Arial"/>
                <a:ea typeface="Arial"/>
                <a:cs typeface="Arial"/>
              </a:defRPr>
            </a:pPr>
            <a:r>
              <a:rPr sz="675" b="1" i="0">
                <a:solidFill>
                  <a:srgbClr val="2F75B5"/>
                </a:solidFill>
                <a:latin typeface="Arial"/>
                <a:ea typeface="Arial"/>
                <a:cs typeface="Arial"/>
              </a:rPr>
              <a:t>PROJECT PROGRESS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6A8B412-D18B-43CC-9267-B3E10874D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666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4259" lnSpcReduction="2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675" b="0" i="0">
                <a:solidFill>
                  <a:srgbClr val="697386"/>
                </a:solidFill>
                <a:latin typeface="Arial"/>
                <a:ea typeface="Arial"/>
                <a:cs typeface="Arial"/>
              </a:defRPr>
            </a:pPr>
            <a:r>
              <a:rPr sz="675" b="0" i="0">
                <a:solidFill>
                  <a:srgbClr val="697386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09FD1EA-DB17-4A8C-9EB8-AFBF67784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1104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 i="0">
                <a:solidFill>
                  <a:srgbClr val="15203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52033"/>
                </a:solidFill>
                <a:latin typeface="Arial"/>
                <a:ea typeface="Arial"/>
                <a:cs typeface="Arial"/>
              </a:rPr>
              <a:t>Delivered solution overview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04BFEE49-D4A1-4A75-A836-9BEDA8319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5255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697386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697386"/>
                </a:solidFill>
                <a:latin typeface="Arial"/>
                <a:ea typeface="Arial"/>
                <a:cs typeface="Arial"/>
              </a:rPr>
              <a:t>Connect completed features to the client’s daily work.</a:t>
            </a:r>
          </a:p>
        </p:txBody>
      </p:sp>
      <p:graphicFrame>
        <p:nvGraphicFramePr>
          <p:cNvPr id="17" name="Table 14"/>
          <p:cNvGraphicFramePr/>
          <p:nvPr/>
        </p:nvGraphicFramePr>
        <p:xfrm>
          <a:off xmlns:a="http://schemas.openxmlformats.org/drawingml/2006/main" x="457200" y="1857375"/>
          <a:ext xmlns:a="http://schemas.openxmlformats.org/drawingml/2006/main" cx="11277600" cy="3429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38375"/>
                <a:gridCol w="3714750"/>
                <a:gridCol w="3143250"/>
                <a:gridCol w="2181225"/>
              </a:tblGrid>
              <a:tr h="571500"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Business Area</a:t>
                      </a:r>
                    </a:p>
                  </a:txBody>
                  <a:tcPr marL="76200" marR="76200" marT="57150" marB="57150" anchor="ctr"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Delivered Capability</a:t>
                      </a:r>
                    </a:p>
                  </a:txBody>
                  <a:tcPr marL="76200" marR="76200" marT="57150" marB="57150" anchor="ctr"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User Benefit</a:t>
                      </a:r>
                    </a:p>
                  </a:txBody>
                  <a:tcPr marL="76200" marR="76200" marT="57150" marB="57150" anchor="ctr"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UAT Scenario</a:t>
                      </a:r>
                    </a:p>
                  </a:txBody>
                  <a:tcPr marL="76200" marR="76200" marT="57150" marB="57150" anchor="ctr">
                    <a:solidFill>
                      <a:srgbClr val="2F75B5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Borrower &amp; Agent Onboarding</a:t>
                      </a: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875"/>
                        <a:t>Registration &amp; account settings; Seafarer/SME/Individual intake; Agent lead pipeline</a:t>
                      </a: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Self-service applications, faster agent conversion</a:t>
                      </a: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UAT-001–023</a:t>
                      </a:r>
                    </a:p>
                  </a:txBody>
                  <a:tcPr marL="76200" marR="76200" marT="57150" marB="57150" anchor="ctr"/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Underwriting Workflow</a:t>
                      </a:r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875"/>
                        <a:t>CSA intake &amp; computation; CIG verification (Field Visit, collateral); Committee voting; LRA release setup</a:t>
                      </a:r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Faster, auditable, consistent credit decisions</a:t>
                      </a:r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UAT-024–048, 097–110</a:t>
                      </a:r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Post-Disbursement &amp; Servicing</a:t>
                      </a: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875"/>
                        <a:t>Pre-departure briefings; AR masterlist &amp; ledger; Collector DCR; Remedial portfolio</a:t>
                      </a: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Accurate receivables, earlier delinquency response</a:t>
                      </a: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UAT-049–067</a:t>
                      </a:r>
                    </a:p>
                  </a:txBody>
                  <a:tcPr marL="76200" marR="76200" marT="57150" marB="57150" anchor="ctr"/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Management &amp; Administration</a:t>
                      </a:r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875"/>
                        <a:t>Operational reports &amp; analytics; Dashboard Hub; staff user &amp; role management</a:t>
                      </a:r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Real-time visibility, controlled staff access</a:t>
                      </a:r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UAT-068–082</a:t>
                      </a:r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System-Wide Controls</a:t>
                      </a: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Authentication, password recovery, RBAC, legacy route redirection</a:t>
                      </a: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Secure, role-gated access to every module</a:t>
                      </a: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UAT-083–096</a:t>
                      </a:r>
                    </a:p>
                  </a:txBody>
                  <a:tcPr marL="76200" marR="76200" marT="57150" marB="57150" anchor="ctr"/>
                </a:tc>
              </a:tr>
            </a:tbl>
          </a:graphicData>
        </a:graphic>
      </p:graphicFrame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2E8ABCB7-43DD-4E60-AACD-5C9F1326A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531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 i="0">
                <a:solidFill>
                  <a:srgbClr val="B77708"/>
                </a:solidFill>
                <a:latin typeface="Arial"/>
                <a:ea typeface="Arial"/>
                <a:cs typeface="Arial"/>
              </a:defRPr>
            </a:pPr>
            <a:r>
              <a:rPr sz="750" b="1" i="0">
                <a:solidFill>
                  <a:srgbClr val="B77708"/>
                </a:solidFill>
                <a:latin typeface="Arial"/>
                <a:ea typeface="Arial"/>
                <a:cs typeface="Arial"/>
              </a:rPr>
              <a:t>Keep this overview focused. The detailed validation happens in the UAT scenarios.</a:t>
            </a:r>
          </a:p>
        </p:txBody>
      </p:sp>
    </p:spTree>
    <p:extLst>
      <p:ext uri="{BB962C8B-B14F-4D97-AF65-F5344CB8AC3E}">
        <p14:creationId xmlns:p14="http://schemas.microsoft.com/office/powerpoint/2010/main" val="72532110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EFD2E263-545B-47D9-81E1-279B5498B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000" lnSpcReduction="2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 i="0">
                <a:solidFill>
                  <a:srgbClr val="697386"/>
                </a:solidFill>
                <a:latin typeface="Arial"/>
                <a:ea typeface="Arial"/>
                <a:cs typeface="Arial"/>
              </a:defRPr>
            </a:pPr>
            <a:r>
              <a:rPr sz="750" b="1" i="0">
                <a:solidFill>
                  <a:srgbClr val="697386"/>
                </a:solidFill>
                <a:latin typeface="Arial"/>
                <a:ea typeface="Arial"/>
                <a:cs typeface="Arial"/>
              </a:rPr>
              <a:t>STARTUPLAB</a:t>
            </a:r>
          </a:p>
        </p:txBody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EF74ADFF-E829-46D3-95EC-2BFDCBF87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66700"/>
            <a:ext cx="2524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278" lnSpcReduction="2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675" b="1" i="0">
                <a:solidFill>
                  <a:srgbClr val="B77708"/>
                </a:solidFill>
                <a:latin typeface="Arial"/>
                <a:ea typeface="Arial"/>
                <a:cs typeface="Arial"/>
              </a:defRPr>
            </a:pPr>
            <a:r>
              <a:rPr sz="675" b="1" i="0">
                <a:solidFill>
                  <a:srgbClr val="B77708"/>
                </a:solidFill>
                <a:latin typeface="Arial"/>
                <a:ea typeface="Arial"/>
                <a:cs typeface="Arial"/>
              </a:rPr>
              <a:t> </a:t>
            </a:r>
            <a:endParaRPr sz="675" b="1" i="0">
              <a:solidFill>
                <a:srgbClr val="B7770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EF0D7977-07AA-403A-B051-463B578EC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14350"/>
            <a:ext cx="2286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4259" lnSpcReduction="2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675" b="1" i="0">
                <a:solidFill>
                  <a:srgbClr val="2F75B5"/>
                </a:solidFill>
                <a:latin typeface="Arial"/>
                <a:ea typeface="Arial"/>
                <a:cs typeface="Arial"/>
              </a:defRPr>
            </a:pPr>
            <a:r>
              <a:rPr sz="675" b="1" i="0">
                <a:solidFill>
                  <a:srgbClr val="2F75B5"/>
                </a:solidFill>
                <a:latin typeface="Arial"/>
                <a:ea typeface="Arial"/>
                <a:cs typeface="Arial"/>
              </a:rPr>
              <a:t>PROJECT PROGRESS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C053D18-FDE0-45C0-89BB-C021ADD5A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666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4259" lnSpcReduction="2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675" b="0" i="0">
                <a:solidFill>
                  <a:srgbClr val="697386"/>
                </a:solidFill>
                <a:latin typeface="Arial"/>
                <a:ea typeface="Arial"/>
                <a:cs typeface="Arial"/>
              </a:defRPr>
            </a:pPr>
            <a:r>
              <a:rPr sz="675" b="0" i="0">
                <a:solidFill>
                  <a:srgbClr val="697386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5142F40-9CA8-48B4-B1E9-0A1B7FE3E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1104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 i="0">
                <a:solidFill>
                  <a:srgbClr val="15203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52033"/>
                </a:solidFill>
                <a:latin typeface="Arial"/>
                <a:ea typeface="Arial"/>
                <a:cs typeface="Arial"/>
              </a:rPr>
              <a:t>Approved changes and key decisions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D8D50333-E51E-47DA-89F9-7B085EC4C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5255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697386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697386"/>
                </a:solidFill>
                <a:latin typeface="Arial"/>
                <a:ea typeface="Arial"/>
                <a:cs typeface="Arial"/>
              </a:rPr>
              <a:t>Show how approved changes affected the final scope, schedule, or solution.</a:t>
            </a:r>
          </a:p>
        </p:txBody>
      </p:sp>
      <p:graphicFrame>
        <p:nvGraphicFramePr>
          <p:cNvPr id="17" name="Table 14"/>
          <p:cNvGraphicFramePr/>
          <p:nvPr/>
        </p:nvGraphicFramePr>
        <p:xfrm>
          <a:off xmlns:a="http://schemas.openxmlformats.org/drawingml/2006/main" x="457200" y="1905000"/>
          <a:ext xmlns:a="http://schemas.openxmlformats.org/drawingml/2006/main" cx="11277600" cy="12573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666875"/>
                <a:gridCol w="3190875"/>
                <a:gridCol w="2238375"/>
                <a:gridCol w="2714625"/>
                <a:gridCol w="1466850"/>
              </a:tblGrid>
              <a:tr h="62865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Reference</a:t>
                      </a:r>
                    </a:p>
                  </a:txBody>
                  <a:tcPr marL="76200" marR="76200" marT="57150" marB="57150" anchor="ctr"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Change or Decision</a:t>
                      </a:r>
                    </a:p>
                  </a:txBody>
                  <a:tcPr marL="76200" marR="76200" marT="57150" marB="57150" anchor="ctr"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Approved By / Date</a:t>
                      </a:r>
                    </a:p>
                  </a:txBody>
                  <a:tcPr marL="76200" marR="76200" marT="57150" marB="57150" anchor="ctr"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Effect on Project</a:t>
                      </a:r>
                    </a:p>
                  </a:txBody>
                  <a:tcPr marL="76200" marR="76200" marT="57150" marB="57150" anchor="ctr"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Current Status</a:t>
                      </a:r>
                    </a:p>
                  </a:txBody>
                  <a:tcPr marL="76200" marR="76200" marT="57150" marB="57150" anchor="ctr">
                    <a:solidFill>
                      <a:srgbClr val="2F75B5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ADD-001</a:t>
                      </a: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750"/>
                        <a:t>SME/Individual/Collateral addendum: Field Visit form replaces CI &amp; References; CM/REM inspections now support multiple vehicles/properties.</a:t>
                      </a: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Approved post-review</a:t>
                      </a: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Expanded UAT scope by 14 cases (UAT-097–110)</a:t>
                      </a: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Incorporated in UAT Plan</a:t>
                      </a:r>
                    </a:p>
                  </a:txBody>
                  <a:tcPr marL="76200" marR="76200" marT="57150" marB="57150" anchor="ctr"/>
                </a:tc>
              </a:tr>
            </a:tbl>
          </a:graphicData>
        </a:graphic>
      </p:graphicFrame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45F11861-330B-4855-939C-106ECF870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531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 i="0">
                <a:solidFill>
                  <a:srgbClr val="B77708"/>
                </a:solidFill>
                <a:latin typeface="Arial"/>
                <a:ea typeface="Arial"/>
                <a:cs typeface="Arial"/>
              </a:defRPr>
            </a:pPr>
            <a:r>
              <a:rPr sz="750" b="1" i="0">
                <a:solidFill>
                  <a:srgbClr val="B77708"/>
                </a:solidFill>
                <a:latin typeface="Arial"/>
                <a:ea typeface="Arial"/>
                <a:cs typeface="Arial"/>
              </a:rPr>
              <a:t>Material commitments require the required internal approval, including CEO approval when applicable.</a:t>
            </a:r>
          </a:p>
        </p:txBody>
      </p:sp>
    </p:spTree>
    <p:extLst>
      <p:ext uri="{BB962C8B-B14F-4D97-AF65-F5344CB8AC3E}">
        <p14:creationId xmlns:p14="http://schemas.microsoft.com/office/powerpoint/2010/main" val="207446542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92CBAFCB-C42B-49DE-87E6-3B9A597EB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000" lnSpcReduction="2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 i="0">
                <a:solidFill>
                  <a:srgbClr val="697386"/>
                </a:solidFill>
                <a:latin typeface="Arial"/>
                <a:ea typeface="Arial"/>
                <a:cs typeface="Arial"/>
              </a:defRPr>
            </a:pPr>
            <a:r>
              <a:rPr sz="750" b="1" i="0">
                <a:solidFill>
                  <a:srgbClr val="697386"/>
                </a:solidFill>
                <a:latin typeface="Arial"/>
                <a:ea typeface="Arial"/>
                <a:cs typeface="Arial"/>
              </a:rPr>
              <a:t>STARTUPLAB</a:t>
            </a:r>
          </a:p>
        </p:txBody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8F99E36-1354-4470-A5A0-A2DD6F288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66700"/>
            <a:ext cx="2524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278" lnSpcReduction="2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675" b="1" i="0">
                <a:solidFill>
                  <a:srgbClr val="B77708"/>
                </a:solidFill>
                <a:latin typeface="Arial"/>
                <a:ea typeface="Arial"/>
                <a:cs typeface="Arial"/>
              </a:defRPr>
            </a:pPr>
            <a:r>
              <a:rPr sz="675" b="1" i="0">
                <a:solidFill>
                  <a:srgbClr val="B77708"/>
                </a:solidFill>
                <a:latin typeface="Arial"/>
                <a:ea typeface="Arial"/>
                <a:cs typeface="Arial"/>
              </a:rPr>
              <a:t> </a:t>
            </a:r>
            <a:endParaRPr sz="675" b="1" i="0">
              <a:solidFill>
                <a:srgbClr val="B7770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C94816C2-3764-4366-A6DF-6E010C7C1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14350"/>
            <a:ext cx="2286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4259" lnSpcReduction="2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675" b="1" i="0">
                <a:solidFill>
                  <a:srgbClr val="2F75B5"/>
                </a:solidFill>
                <a:latin typeface="Arial"/>
                <a:ea typeface="Arial"/>
                <a:cs typeface="Arial"/>
              </a:defRPr>
            </a:pPr>
            <a:r>
              <a:rPr sz="675" b="1" i="0">
                <a:solidFill>
                  <a:srgbClr val="2F75B5"/>
                </a:solidFill>
                <a:latin typeface="Arial"/>
                <a:ea typeface="Arial"/>
                <a:cs typeface="Arial"/>
              </a:rPr>
              <a:t>UAT CYCLE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6E4B281-E326-4BD4-A6A1-A1AAF3EBE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666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4259" lnSpcReduction="2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675" b="0" i="0">
                <a:solidFill>
                  <a:srgbClr val="697386"/>
                </a:solidFill>
                <a:latin typeface="Arial"/>
                <a:ea typeface="Arial"/>
                <a:cs typeface="Arial"/>
              </a:defRPr>
            </a:pPr>
            <a:r>
              <a:rPr sz="675" b="0" i="0">
                <a:solidFill>
                  <a:srgbClr val="697386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42F7149-86C4-4F51-B57C-1519DBD72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1104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 i="0">
                <a:solidFill>
                  <a:srgbClr val="15203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52033"/>
                </a:solidFill>
                <a:latin typeface="Arial"/>
                <a:ea typeface="Arial"/>
                <a:cs typeface="Arial"/>
              </a:rPr>
              <a:t>UAT objective and decision required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9BEC7694-F3BF-42C6-A397-D0BEA713A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5255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697386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697386"/>
                </a:solidFill>
                <a:latin typeface="Arial"/>
                <a:ea typeface="Arial"/>
                <a:cs typeface="Arial"/>
              </a:rPr>
              <a:t>Clarify what the client is validating and the decision expected at the end of the cycle.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2B9689AF-704F-4E6B-9902-EFD40E8A7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4953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FA"/>
          </a:solidFill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000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152033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152033"/>
                </a:solidFill>
                <a:latin typeface="Arial"/>
                <a:ea typeface="Arial"/>
                <a:cs typeface="Arial"/>
              </a:rPr>
              <a:t>Confirm the platform performs onboarding, underwriting, committee review, release, collections, accounting, admin, and access control correctly, before handover.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79798B84-E83E-4C18-BE9F-A1E48CE50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047875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6111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68A83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168A83"/>
                </a:solidFill>
                <a:latin typeface="Arial"/>
                <a:ea typeface="Arial"/>
                <a:cs typeface="Arial"/>
              </a:rPr>
              <a:t>CLIENT VALIDATES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FC636B7F-9954-4B2B-979C-C6BA5C33C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81250"/>
            <a:ext cx="4572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5203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52033"/>
                </a:solidFill>
                <a:latin typeface="Arial"/>
                <a:ea typeface="Arial"/>
                <a:cs typeface="Arial"/>
              </a:rPr>
              <a:t>• Agreed business workflows</a:t>
            </a:r>
          </a:p>
          <a:p xmlns:a="http://schemas.openxmlformats.org/drawingml/2006/main">
            <a:pPr algn="l">
              <a:buNone/>
              <a:defRPr sz="1275" b="0" i="0">
                <a:solidFill>
                  <a:srgbClr val="15203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52033"/>
                </a:solidFill>
                <a:latin typeface="Arial"/>
                <a:ea typeface="Arial"/>
                <a:cs typeface="Arial"/>
              </a:rPr>
              <a:t>• Correct outputs and data behavior</a:t>
            </a:r>
          </a:p>
          <a:p xmlns:a="http://schemas.openxmlformats.org/drawingml/2006/main">
            <a:pPr algn="l">
              <a:buNone/>
              <a:defRPr sz="1275" b="0" i="0">
                <a:solidFill>
                  <a:srgbClr val="15203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52033"/>
                </a:solidFill>
                <a:latin typeface="Arial"/>
                <a:ea typeface="Arial"/>
                <a:cs typeface="Arial"/>
              </a:rPr>
              <a:t>• User roles and access</a:t>
            </a:r>
          </a:p>
          <a:p xmlns:a="http://schemas.openxmlformats.org/drawingml/2006/main">
            <a:pPr algn="l">
              <a:buNone/>
              <a:defRPr sz="1275" b="0" i="0">
                <a:solidFill>
                  <a:srgbClr val="15203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52033"/>
                </a:solidFill>
                <a:latin typeface="Arial"/>
                <a:ea typeface="Arial"/>
                <a:cs typeface="Arial"/>
              </a:rPr>
              <a:t>• Known limitations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46A9A445-30B0-44C5-82A8-E0B784A09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50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6111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B77708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B77708"/>
                </a:solidFill>
                <a:latin typeface="Arial"/>
                <a:ea typeface="Arial"/>
                <a:cs typeface="Arial"/>
              </a:rPr>
              <a:t>DECISION AT THE END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704A4D67-90A1-4985-94C8-C40E09AD7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333875"/>
            <a:ext cx="4476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52033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152033"/>
                </a:solidFill>
                <a:latin typeface="Arial"/>
                <a:ea typeface="Arial"/>
                <a:cs typeface="Arial"/>
              </a:rPr>
              <a:t>To be determined at the end of the UAT cycle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70C38F79-3F0F-43E2-9645-6319ABC5F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531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 i="0">
                <a:solidFill>
                  <a:srgbClr val="B77708"/>
                </a:solidFill>
                <a:latin typeface="Arial"/>
                <a:ea typeface="Arial"/>
                <a:cs typeface="Arial"/>
              </a:defRPr>
            </a:pPr>
            <a:r>
              <a:rPr sz="750" b="1" i="0">
                <a:solidFill>
                  <a:srgbClr val="B77708"/>
                </a:solidFill>
                <a:latin typeface="Arial"/>
                <a:ea typeface="Arial"/>
                <a:cs typeface="Arial"/>
              </a:rPr>
              <a:t>UAT confirms the agreed solution. It does not provide automatic approval for new scope.</a:t>
            </a:r>
          </a:p>
        </p:txBody>
      </p:sp>
    </p:spTree>
    <p:extLst>
      <p:ext uri="{BB962C8B-B14F-4D97-AF65-F5344CB8AC3E}">
        <p14:creationId xmlns:p14="http://schemas.microsoft.com/office/powerpoint/2010/main" val="121055032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359DD410-DBAB-4D99-8F07-44B43AE6B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000" lnSpcReduction="2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 i="0">
                <a:solidFill>
                  <a:srgbClr val="697386"/>
                </a:solidFill>
                <a:latin typeface="Arial"/>
                <a:ea typeface="Arial"/>
                <a:cs typeface="Arial"/>
              </a:defRPr>
            </a:pPr>
            <a:r>
              <a:rPr sz="750" b="1" i="0">
                <a:solidFill>
                  <a:srgbClr val="697386"/>
                </a:solidFill>
                <a:latin typeface="Arial"/>
                <a:ea typeface="Arial"/>
                <a:cs typeface="Arial"/>
              </a:rPr>
              <a:t>STARTUPLAB</a:t>
            </a:r>
          </a:p>
        </p:txBody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60AD9BE2-5F69-4240-8624-1498EB5FD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66700"/>
            <a:ext cx="2524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278" lnSpcReduction="2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675" b="1" i="0">
                <a:solidFill>
                  <a:srgbClr val="B77708"/>
                </a:solidFill>
                <a:latin typeface="Arial"/>
                <a:ea typeface="Arial"/>
                <a:cs typeface="Arial"/>
              </a:defRPr>
            </a:pPr>
            <a:r>
              <a:rPr sz="675" b="1" i="0">
                <a:solidFill>
                  <a:srgbClr val="B77708"/>
                </a:solidFill>
                <a:latin typeface="Arial"/>
                <a:ea typeface="Arial"/>
                <a:cs typeface="Arial"/>
              </a:rPr>
              <a:t> </a:t>
            </a:r>
            <a:endParaRPr sz="675" b="1" i="0">
              <a:solidFill>
                <a:srgbClr val="B7770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545B221C-D73B-41C2-9FA9-53806E9D0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14350"/>
            <a:ext cx="2286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4259" lnSpcReduction="2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675" b="1" i="0">
                <a:solidFill>
                  <a:srgbClr val="2F75B5"/>
                </a:solidFill>
                <a:latin typeface="Arial"/>
                <a:ea typeface="Arial"/>
                <a:cs typeface="Arial"/>
              </a:defRPr>
            </a:pPr>
            <a:r>
              <a:rPr sz="675" b="1" i="0">
                <a:solidFill>
                  <a:srgbClr val="2F75B5"/>
                </a:solidFill>
                <a:latin typeface="Arial"/>
                <a:ea typeface="Arial"/>
                <a:cs typeface="Arial"/>
              </a:rPr>
              <a:t>UAT CYCLE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BA5986B-5FD9-4C4A-8208-497589A97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666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4259" lnSpcReduction="2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675" b="0" i="0">
                <a:solidFill>
                  <a:srgbClr val="697386"/>
                </a:solidFill>
                <a:latin typeface="Arial"/>
                <a:ea typeface="Arial"/>
                <a:cs typeface="Arial"/>
              </a:defRPr>
            </a:pPr>
            <a:r>
              <a:rPr sz="675" b="0" i="0">
                <a:solidFill>
                  <a:srgbClr val="69738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9C80CDC-7A51-4A35-BFAB-5690FB98E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1104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 i="0">
                <a:solidFill>
                  <a:srgbClr val="15203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52033"/>
                </a:solidFill>
                <a:latin typeface="Arial"/>
                <a:ea typeface="Arial"/>
                <a:cs typeface="Arial"/>
              </a:rPr>
              <a:t>UAT readiness confirmation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3ADC4BF7-E0C5-4D4C-9639-8F006CD52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5255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697386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697386"/>
                </a:solidFill>
                <a:latin typeface="Arial"/>
                <a:ea typeface="Arial"/>
                <a:cs typeface="Arial"/>
              </a:rPr>
              <a:t>Confirm that the system, people, data, and documents are ready before client testing begins.</a:t>
            </a:r>
          </a:p>
        </p:txBody>
      </p:sp>
      <p:graphicFrame>
        <p:nvGraphicFramePr>
          <p:cNvPr id="17" name="Table 14"/>
          <p:cNvGraphicFramePr/>
          <p:nvPr/>
        </p:nvGraphicFramePr>
        <p:xfrm>
          <a:off xmlns:a="http://schemas.openxmlformats.org/drawingml/2006/main" x="457200" y="1857375"/>
          <a:ext xmlns:a="http://schemas.openxmlformats.org/drawingml/2006/main" cx="11277600" cy="3714753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524250"/>
                <a:gridCol w="2286000"/>
                <a:gridCol w="1762125"/>
                <a:gridCol w="3705225"/>
              </a:tblGrid>
              <a:tr h="530679"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Readiness Check</a:t>
                      </a:r>
                    </a:p>
                  </a:txBody>
                  <a:tcPr marL="76200" marR="76200" marT="57150" marB="57150" anchor="ctr"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Owner</a:t>
                      </a:r>
                    </a:p>
                  </a:txBody>
                  <a:tcPr marL="76200" marR="76200" marT="57150" marB="57150" anchor="ctr"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Status</a:t>
                      </a:r>
                    </a:p>
                  </a:txBody>
                  <a:tcPr marL="76200" marR="76200" marT="57150" marB="57150" anchor="ctr"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Evidence / Remaining Action</a:t>
                      </a:r>
                    </a:p>
                  </a:txBody>
                  <a:tcPr marL="76200" marR="76200" marT="57150" marB="57150" anchor="ctr">
                    <a:solidFill>
                      <a:srgbClr val="2F75B5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Internal testing completed</a:t>
                      </a: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Rovick Romasanta</a:t>
                      </a: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Ready</a:t>
                      </a: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Internal QA + E2E lifecycle simulation completed (14 modules)</a:t>
                      </a:r>
                    </a:p>
                  </a:txBody>
                  <a:tcPr marL="76200" marR="76200" marT="57150" marB="57150" anchor="ctr"/>
                </a:tc>
              </a:tr>
              <a:tr h="530679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Critical defects resolved</a:t>
                      </a:r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Rovick Romasanta</a:t>
                      </a:r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Ready</a:t>
                      </a:r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No open critical defects on record</a:t>
                      </a:r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UAT environment available</a:t>
                      </a: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Rovick Romasanta</a:t>
                      </a:r>
                      <a:endParaRPr sz="975"/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Read</a:t>
                      </a:r>
                      <a:endParaRPr sz="975"/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Staging URL / build / version TBD</a:t>
                      </a:r>
                    </a:p>
                  </a:txBody>
                  <a:tcPr marL="76200" marR="76200" marT="57150" marB="57150" anchor="ctr"/>
                </a:tc>
              </a:tr>
              <a:tr h="530679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Test users and roles verified</a:t>
                      </a:r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Rovick Romasanta</a:t>
                      </a:r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Ready</a:t>
                      </a:r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Role accounts provisioned for all tested roles</a:t>
                      </a:r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Test data loaded and checked</a:t>
                      </a: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Rovick Romasanta</a:t>
                      </a: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Pending confirmation</a:t>
                      </a: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Sample data approval &amp; UAT load status TBD</a:t>
                      </a:r>
                    </a:p>
                  </a:txBody>
                  <a:tcPr marL="76200" marR="76200" marT="57150" marB="57150" anchor="ctr"/>
                </a:tc>
              </a:tr>
              <a:tr h="530679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UAT forms and evidence folder ready</a:t>
                      </a:r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Rovick Romasanta</a:t>
                      </a:r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Ready</a:t>
                      </a:r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Appendix B (110 cases) + Appendix C issue log ready</a:t>
                      </a:r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8CB6D5BB-29AD-439A-9705-01E6A09C8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531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 i="0">
                <a:solidFill>
                  <a:srgbClr val="B64A43"/>
                </a:solidFill>
                <a:latin typeface="Arial"/>
                <a:ea typeface="Arial"/>
                <a:cs typeface="Arial"/>
              </a:defRPr>
            </a:pPr>
            <a:r>
              <a:rPr sz="750" b="1" i="0">
                <a:solidFill>
                  <a:srgbClr val="B64A43"/>
                </a:solidFill>
                <a:latin typeface="Arial"/>
                <a:ea typeface="Arial"/>
                <a:cs typeface="Arial"/>
              </a:rPr>
              <a:t>Do not start affected tests when a critical readiness item remains unresolved.</a:t>
            </a:r>
          </a:p>
        </p:txBody>
      </p:sp>
    </p:spTree>
    <p:extLst>
      <p:ext uri="{BB962C8B-B14F-4D97-AF65-F5344CB8AC3E}">
        <p14:creationId xmlns:p14="http://schemas.microsoft.com/office/powerpoint/2010/main" val="208624963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4D95B917-3453-48F2-B0AE-2338B82F6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000" lnSpcReduction="2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 i="0">
                <a:solidFill>
                  <a:srgbClr val="697386"/>
                </a:solidFill>
                <a:latin typeface="Arial"/>
                <a:ea typeface="Arial"/>
                <a:cs typeface="Arial"/>
              </a:defRPr>
            </a:pPr>
            <a:r>
              <a:rPr sz="750" b="1" i="0">
                <a:solidFill>
                  <a:srgbClr val="697386"/>
                </a:solidFill>
                <a:latin typeface="Arial"/>
                <a:ea typeface="Arial"/>
                <a:cs typeface="Arial"/>
              </a:rPr>
              <a:t>STARTUPLAB</a:t>
            </a:r>
          </a:p>
        </p:txBody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782AE958-F6B1-4898-88A4-7CC8C89A1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66700"/>
            <a:ext cx="2524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278" lnSpcReduction="2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675" b="1" i="0">
                <a:solidFill>
                  <a:srgbClr val="B77708"/>
                </a:solidFill>
                <a:latin typeface="Arial"/>
                <a:ea typeface="Arial"/>
                <a:cs typeface="Arial"/>
              </a:defRPr>
            </a:pPr>
            <a:r>
              <a:rPr sz="675" b="1" i="0">
                <a:solidFill>
                  <a:srgbClr val="B77708"/>
                </a:solidFill>
                <a:latin typeface="Arial"/>
                <a:ea typeface="Arial"/>
                <a:cs typeface="Arial"/>
              </a:rPr>
              <a:t> </a:t>
            </a:r>
            <a:endParaRPr sz="675" b="1" i="0">
              <a:solidFill>
                <a:srgbClr val="B7770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947F1B95-9E11-404C-8627-F48A86556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14350"/>
            <a:ext cx="2286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4259" lnSpcReduction="2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675" b="1" i="0">
                <a:solidFill>
                  <a:srgbClr val="2F75B5"/>
                </a:solidFill>
                <a:latin typeface="Arial"/>
                <a:ea typeface="Arial"/>
                <a:cs typeface="Arial"/>
              </a:defRPr>
            </a:pPr>
            <a:r>
              <a:rPr sz="675" b="1" i="0">
                <a:solidFill>
                  <a:srgbClr val="2F75B5"/>
                </a:solidFill>
                <a:latin typeface="Arial"/>
                <a:ea typeface="Arial"/>
                <a:cs typeface="Arial"/>
              </a:rPr>
              <a:t>UAT CYCLE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63691F1-9346-415C-A5C6-CA6EDB780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666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4259" lnSpcReduction="2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675" b="0" i="0">
                <a:solidFill>
                  <a:srgbClr val="697386"/>
                </a:solidFill>
                <a:latin typeface="Arial"/>
                <a:ea typeface="Arial"/>
                <a:cs typeface="Arial"/>
              </a:defRPr>
            </a:pPr>
            <a:r>
              <a:rPr sz="675" b="0" i="0">
                <a:solidFill>
                  <a:srgbClr val="697386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71D5DA8-42E8-46A5-B1FE-FE69A79DE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1104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 i="0">
                <a:solidFill>
                  <a:srgbClr val="15203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52033"/>
                </a:solidFill>
                <a:latin typeface="Arial"/>
                <a:ea typeface="Arial"/>
                <a:cs typeface="Arial"/>
              </a:rPr>
              <a:t>Test users, access, and data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A49E2BEE-3E23-4A20-90FD-35340AF74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5255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697386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697386"/>
                </a:solidFill>
                <a:latin typeface="Arial"/>
                <a:ea typeface="Arial"/>
                <a:cs typeface="Arial"/>
              </a:rPr>
              <a:t>Confirm who will test, what access they have, and what data supports the scenarios.</a:t>
            </a:r>
          </a:p>
        </p:txBody>
      </p:sp>
      <p:graphicFrame>
        <p:nvGraphicFramePr>
          <p:cNvPr id="17" name="Table 14"/>
          <p:cNvGraphicFramePr/>
          <p:nvPr/>
        </p:nvGraphicFramePr>
        <p:xfrm>
          <a:off xmlns:a="http://schemas.openxmlformats.org/drawingml/2006/main" x="457200" y="1857375"/>
          <a:ext xmlns:a="http://schemas.openxmlformats.org/drawingml/2006/main" cx="11277600" cy="3714753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71750"/>
                <a:gridCol w="3333750"/>
                <a:gridCol w="3333750"/>
                <a:gridCol w="2038350"/>
              </a:tblGrid>
              <a:tr h="530679"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Control</a:t>
                      </a:r>
                    </a:p>
                  </a:txBody>
                  <a:tcPr marL="76200" marR="76200" marT="57150" marB="57150" anchor="ctr"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Planned / Expected</a:t>
                      </a:r>
                    </a:p>
                  </a:txBody>
                  <a:tcPr marL="76200" marR="76200" marT="57150" marB="57150" anchor="ctr"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Actual / Verified</a:t>
                      </a:r>
                    </a:p>
                  </a:txBody>
                  <a:tcPr marL="76200" marR="76200" marT="57150" marB="57150" anchor="ctr"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Client Confirmation</a:t>
                      </a:r>
                    </a:p>
                  </a:txBody>
                  <a:tcPr marL="76200" marR="76200" marT="57150" marB="57150" anchor="ctr">
                    <a:solidFill>
                      <a:srgbClr val="2F75B5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Authorized testers</a:t>
                      </a: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Client testers per module (from Client Main Contact)</a:t>
                      </a: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Pending submission</a:t>
                      </a: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Confirm</a:t>
                      </a:r>
                    </a:p>
                  </a:txBody>
                  <a:tcPr marL="76200" marR="76200" marT="57150" marB="57150" anchor="ctr"/>
                </a:tc>
              </a:tr>
              <a:tr h="530679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Access levels</a:t>
                      </a:r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Role-based permissions per assigned module</a:t>
                      </a:r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Applied on load</a:t>
                      </a:r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Confirm</a:t>
                      </a:r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Approved data source</a:t>
                      </a: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Client-approved UAT sample data set</a:t>
                      </a: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Applied on load</a:t>
                      </a: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Confirm</a:t>
                      </a:r>
                    </a:p>
                  </a:txBody>
                  <a:tcPr marL="76200" marR="76200" marT="57150" marB="57150" anchor="ctr"/>
                </a:tc>
              </a:tr>
              <a:tr h="530679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Record counts</a:t>
                      </a:r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To match approved sample data</a:t>
                      </a:r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Applied on load</a:t>
                      </a:r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Confirm</a:t>
                      </a:r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Important totals</a:t>
                      </a: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To match approved sample data</a:t>
                      </a: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Pending load</a:t>
                      </a: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Confirm</a:t>
                      </a:r>
                    </a:p>
                  </a:txBody>
                  <a:tcPr marL="76200" marR="76200" marT="57150" marB="57150" anchor="ctr"/>
                </a:tc>
              </a:tr>
              <a:tr h="530679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Sensitive data controls</a:t>
                      </a:r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Masking / non-production values only</a:t>
                      </a:r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Applied on load</a:t>
                      </a:r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Acknowledge</a:t>
                      </a:r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B472260F-3D2E-4035-AA33-2DC790659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531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 i="0">
                <a:solidFill>
                  <a:srgbClr val="B77708"/>
                </a:solidFill>
                <a:latin typeface="Arial"/>
                <a:ea typeface="Arial"/>
                <a:cs typeface="Arial"/>
              </a:defRPr>
            </a:pPr>
            <a:r>
              <a:rPr sz="750" b="1" i="0">
                <a:solidFill>
                  <a:srgbClr val="B77708"/>
                </a:solidFill>
                <a:latin typeface="Arial"/>
                <a:ea typeface="Arial"/>
                <a:cs typeface="Arial"/>
              </a:rPr>
              <a:t>Never guess missing client data. Record gaps and ask the authorized client owner to confirm the correct value.</a:t>
            </a:r>
          </a:p>
        </p:txBody>
      </p:sp>
    </p:spTree>
    <p:extLst>
      <p:ext uri="{BB962C8B-B14F-4D97-AF65-F5344CB8AC3E}">
        <p14:creationId xmlns:p14="http://schemas.microsoft.com/office/powerpoint/2010/main" val="65798583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00CAD8EC-254A-40A0-B147-0BDB8A382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000" lnSpcReduction="2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 i="0">
                <a:solidFill>
                  <a:srgbClr val="697386"/>
                </a:solidFill>
                <a:latin typeface="Arial"/>
                <a:ea typeface="Arial"/>
                <a:cs typeface="Arial"/>
              </a:defRPr>
            </a:pPr>
            <a:r>
              <a:rPr sz="750" b="1" i="0">
                <a:solidFill>
                  <a:srgbClr val="697386"/>
                </a:solidFill>
                <a:latin typeface="Arial"/>
                <a:ea typeface="Arial"/>
                <a:cs typeface="Arial"/>
              </a:rPr>
              <a:t>STARTUPLAB</a:t>
            </a:r>
          </a:p>
        </p:txBody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3EF15FF-929C-4E97-97AD-0DC6BF34E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66700"/>
            <a:ext cx="2524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278" lnSpcReduction="2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675" b="1" i="0">
                <a:solidFill>
                  <a:srgbClr val="B77708"/>
                </a:solidFill>
                <a:latin typeface="Arial"/>
                <a:ea typeface="Arial"/>
                <a:cs typeface="Arial"/>
              </a:defRPr>
            </a:pPr>
            <a:r>
              <a:rPr sz="675" b="1" i="0">
                <a:solidFill>
                  <a:srgbClr val="B77708"/>
                </a:solidFill>
                <a:latin typeface="Arial"/>
                <a:ea typeface="Arial"/>
                <a:cs typeface="Arial"/>
              </a:rPr>
              <a:t> </a:t>
            </a:r>
            <a:endParaRPr sz="675" b="1" i="0">
              <a:solidFill>
                <a:srgbClr val="B7770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03210432-734F-4E30-B5F1-7174242F6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14350"/>
            <a:ext cx="2286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4259" lnSpcReduction="2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675" b="1" i="0">
                <a:solidFill>
                  <a:srgbClr val="2F75B5"/>
                </a:solidFill>
                <a:latin typeface="Arial"/>
                <a:ea typeface="Arial"/>
                <a:cs typeface="Arial"/>
              </a:defRPr>
            </a:pPr>
            <a:r>
              <a:rPr sz="675" b="1" i="0">
                <a:solidFill>
                  <a:srgbClr val="2F75B5"/>
                </a:solidFill>
                <a:latin typeface="Arial"/>
                <a:ea typeface="Arial"/>
                <a:cs typeface="Arial"/>
              </a:rPr>
              <a:t>UAT CYCLE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A4CC94A-65EB-4B32-9498-8901B0C58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666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4259" lnSpcReduction="2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675" b="0" i="0">
                <a:solidFill>
                  <a:srgbClr val="697386"/>
                </a:solidFill>
                <a:latin typeface="Arial"/>
                <a:ea typeface="Arial"/>
                <a:cs typeface="Arial"/>
              </a:defRPr>
            </a:pPr>
            <a:r>
              <a:rPr sz="675" b="0" i="0">
                <a:solidFill>
                  <a:srgbClr val="697386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4806A5D-705A-4664-BA00-8CEFCA451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1104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 i="0">
                <a:solidFill>
                  <a:srgbClr val="15203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52033"/>
                </a:solidFill>
                <a:latin typeface="Arial"/>
                <a:ea typeface="Arial"/>
                <a:cs typeface="Arial"/>
              </a:rPr>
              <a:t>UAT scenarios and expected results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3BF0E707-191A-44DE-B441-196A545A9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5255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697386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697386"/>
                </a:solidFill>
                <a:latin typeface="Arial"/>
                <a:ea typeface="Arial"/>
                <a:cs typeface="Arial"/>
              </a:rPr>
              <a:t>List the business tasks that client users will perform.</a:t>
            </a:r>
          </a:p>
        </p:txBody>
      </p:sp>
      <p:graphicFrame>
        <p:nvGraphicFramePr>
          <p:cNvPr id="17" name="Table 14"/>
          <p:cNvGraphicFramePr/>
          <p:nvPr/>
        </p:nvGraphicFramePr>
        <p:xfrm>
          <a:off xmlns:a="http://schemas.openxmlformats.org/drawingml/2006/main" x="457200" y="1857375"/>
          <a:ext xmlns:a="http://schemas.openxmlformats.org/drawingml/2006/main" cx="11277600" cy="3429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333500"/>
                <a:gridCol w="3333750"/>
                <a:gridCol w="2238375"/>
                <a:gridCol w="3095625"/>
                <a:gridCol w="1276350"/>
              </a:tblGrid>
              <a:tr h="5715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UAT ID</a:t>
                      </a:r>
                    </a:p>
                  </a:txBody>
                  <a:tcPr marL="76200" marR="76200" marT="57150" marB="57150" anchor="ctr"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Business Scenario</a:t>
                      </a:r>
                    </a:p>
                  </a:txBody>
                  <a:tcPr marL="76200" marR="76200" marT="57150" marB="57150" anchor="ctr"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Tester / Role</a:t>
                      </a:r>
                    </a:p>
                  </a:txBody>
                  <a:tcPr marL="76200" marR="76200" marT="57150" marB="57150" anchor="ctr"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Expected Result</a:t>
                      </a:r>
                    </a:p>
                  </a:txBody>
                  <a:tcPr marL="76200" marR="76200" marT="57150" marB="57150" anchor="ctr"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Priority</a:t>
                      </a:r>
                    </a:p>
                  </a:txBody>
                  <a:tcPr marL="76200" marR="76200" marT="57150" marB="57150" anchor="ctr">
                    <a:solidFill>
                      <a:srgbClr val="2F75B5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UAT-009</a:t>
                      </a: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Start a new Seafarer loan application</a:t>
                      </a: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Borrower</a:t>
                      </a: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Draft application created; navigates to workspace</a:t>
                      </a: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Critical</a:t>
                      </a:r>
                    </a:p>
                  </a:txBody>
                  <a:tcPr marL="76200" marR="76200" marT="57150" marB="57150" anchor="ctr"/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UAT-028</a:t>
                      </a:r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Endorse an application to CIG</a:t>
                      </a:r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CSA</a:t>
                      </a:r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Status → 'For Verification'; file moves to CIG queue</a:t>
                      </a:r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Critical</a:t>
                      </a:r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UAT-038</a:t>
                      </a: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Record an Approve vote</a:t>
                      </a: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Credit Committee Member</a:t>
                      </a: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Vote recorded as Approved; tally increments</a:t>
                      </a: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Critical</a:t>
                      </a:r>
                    </a:p>
                  </a:txBody>
                  <a:tcPr marL="76200" marR="76200" marT="57150" marB="57150" anchor="ctr"/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UAT-060</a:t>
                      </a:r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Create a DCR with payment allocation</a:t>
                      </a:r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Collector</a:t>
                      </a:r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DCR submitted; forwarded to AR for verification</a:t>
                      </a:r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Critical</a:t>
                      </a:r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UAT-091</a:t>
                      </a: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Borrower cannot access CSA portal</a:t>
                      </a: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Any role</a:t>
                      </a: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Access blocked; redirected to /borrower</a:t>
                      </a: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Critical</a:t>
                      </a:r>
                    </a:p>
                  </a:txBody>
                  <a:tcPr marL="76200" marR="76200" marT="57150" marB="57150" anchor="ctr"/>
                </a:tc>
              </a:tr>
            </a:tbl>
          </a:graphicData>
        </a:graphic>
      </p:graphicFrame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AAA0ABDF-D848-47F2-A325-FE7067B22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531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 i="0">
                <a:solidFill>
                  <a:srgbClr val="B77708"/>
                </a:solidFill>
                <a:latin typeface="Arial"/>
                <a:ea typeface="Arial"/>
                <a:cs typeface="Arial"/>
              </a:defRPr>
            </a:pPr>
            <a:r>
              <a:rPr sz="750" b="1" i="0">
                <a:solidFill>
                  <a:srgbClr val="B77708"/>
                </a:solidFill>
                <a:latin typeface="Arial"/>
                <a:ea typeface="Arial"/>
                <a:cs typeface="Arial"/>
              </a:rPr>
              <a:t>5 representative scenarios shown; the full 110-case set across 14 modules is in Appendix B of the UAT Plan (POL-006).</a:t>
            </a:r>
          </a:p>
        </p:txBody>
      </p:sp>
    </p:spTree>
    <p:extLst>
      <p:ext uri="{BB962C8B-B14F-4D97-AF65-F5344CB8AC3E}">
        <p14:creationId xmlns:p14="http://schemas.microsoft.com/office/powerpoint/2010/main" val="182756055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BF00001E-34E8-4B44-9B7A-2D3EF81BA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7500" lnSpcReduction="2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 i="0">
                <a:solidFill>
                  <a:srgbClr val="697386"/>
                </a:solidFill>
                <a:latin typeface="Arial"/>
                <a:ea typeface="Arial"/>
                <a:cs typeface="Arial"/>
              </a:defRPr>
            </a:pPr>
            <a:r>
              <a:rPr sz="750" b="1" i="0">
                <a:solidFill>
                  <a:srgbClr val="697386"/>
                </a:solidFill>
                <a:latin typeface="Arial"/>
                <a:ea typeface="Arial"/>
                <a:cs typeface="Arial"/>
              </a:rPr>
              <a:t>STARTUPLAB</a:t>
            </a:r>
          </a:p>
        </p:txBody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A8B274-81D3-4B70-91FD-31C92F0B4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66700"/>
            <a:ext cx="2524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278" lnSpcReduction="2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675" b="1" i="0">
                <a:solidFill>
                  <a:srgbClr val="B77708"/>
                </a:solidFill>
                <a:latin typeface="Arial"/>
                <a:ea typeface="Arial"/>
                <a:cs typeface="Arial"/>
              </a:defRPr>
            </a:pPr>
            <a:r>
              <a:rPr sz="675" b="1" i="0">
                <a:solidFill>
                  <a:srgbClr val="B77708"/>
                </a:solidFill>
                <a:latin typeface="Arial"/>
                <a:ea typeface="Arial"/>
                <a:cs typeface="Arial"/>
              </a:rPr>
              <a:t> </a:t>
            </a:r>
            <a:endParaRPr sz="675" b="1" i="0">
              <a:solidFill>
                <a:srgbClr val="B7770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91617A62-AC74-41F2-94C2-E4ED702A8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14350"/>
            <a:ext cx="2286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66759" lnSpcReduction="2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675" b="1" i="0">
                <a:solidFill>
                  <a:srgbClr val="2F75B5"/>
                </a:solidFill>
                <a:latin typeface="Arial"/>
                <a:ea typeface="Arial"/>
                <a:cs typeface="Arial"/>
              </a:defRPr>
            </a:pPr>
            <a:r>
              <a:rPr sz="675" b="1" i="0">
                <a:solidFill>
                  <a:srgbClr val="2F75B5"/>
                </a:solidFill>
                <a:latin typeface="Arial"/>
                <a:ea typeface="Arial"/>
                <a:cs typeface="Arial"/>
              </a:rPr>
              <a:t>UAT CYCLE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C065FF1-9296-49A7-939E-62281FDD6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666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66759" lnSpcReduction="2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675" b="0" i="0">
                <a:solidFill>
                  <a:srgbClr val="697386"/>
                </a:solidFill>
                <a:latin typeface="Arial"/>
                <a:ea typeface="Arial"/>
                <a:cs typeface="Arial"/>
              </a:defRPr>
            </a:pPr>
            <a:r>
              <a:rPr sz="675" b="0" i="0">
                <a:solidFill>
                  <a:srgbClr val="697386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69E14F8-6AD0-4411-AC86-B48D43264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1104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 i="0">
                <a:solidFill>
                  <a:srgbClr val="15203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52033"/>
                </a:solidFill>
                <a:latin typeface="Arial"/>
                <a:ea typeface="Arial"/>
                <a:cs typeface="Arial"/>
              </a:rPr>
              <a:t>UAT execution flow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919E2BCC-0BF8-410E-9334-4A067FA92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5255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697386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697386"/>
                </a:solidFill>
                <a:latin typeface="Arial"/>
                <a:ea typeface="Arial"/>
                <a:cs typeface="Arial"/>
              </a:rPr>
              <a:t>Use the same five-step method for every business scenario.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4A6C5BA9-B613-4EA4-A78F-14662F963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38375"/>
            <a:ext cx="5238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2F75B5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2F75B5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FAEEBCF2-F7B5-4324-B938-8C1B1C084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00375"/>
            <a:ext cx="1952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52033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152033"/>
                </a:solidFill>
                <a:latin typeface="Arial"/>
                <a:ea typeface="Arial"/>
                <a:cs typeface="Arial"/>
              </a:rPr>
              <a:t>STATE THE TASK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AAD3A3BF-24BA-4DD2-B40F-0FB83C5E3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09950"/>
            <a:ext cx="1952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697386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697386"/>
                </a:solidFill>
                <a:latin typeface="Arial"/>
                <a:ea typeface="Arial"/>
                <a:cs typeface="Arial"/>
              </a:rPr>
              <a:t>Confirm the business goal and expected result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FB5C5A5A-6668-4760-B60F-531BE88D5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238375"/>
            <a:ext cx="5238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168A83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168A8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EC161D40-BFE6-4AE3-948E-96842AF21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000375"/>
            <a:ext cx="1952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52033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152033"/>
                </a:solidFill>
                <a:latin typeface="Arial"/>
                <a:ea typeface="Arial"/>
                <a:cs typeface="Arial"/>
              </a:rPr>
              <a:t>CLIENT PERFORMS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23B16AC8-9771-41A5-AC3D-B062F05E1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409950"/>
            <a:ext cx="1952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697386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697386"/>
                </a:solidFill>
                <a:latin typeface="Arial"/>
                <a:ea typeface="Arial"/>
                <a:cs typeface="Arial"/>
              </a:rPr>
              <a:t>The tester uses the system as in daily work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116D4586-E7E9-42E6-8100-3ED9CEF85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238375"/>
            <a:ext cx="5238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2F75B5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2F75B5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E09CEEC5-796D-4FAD-BF05-9F465EB4F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000375"/>
            <a:ext cx="1952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52033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152033"/>
                </a:solidFill>
                <a:latin typeface="Arial"/>
                <a:ea typeface="Arial"/>
                <a:cs typeface="Arial"/>
              </a:rPr>
              <a:t>COMPARE RESULTS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78D56DAA-9EB0-4586-8677-F8DE73DC3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409950"/>
            <a:ext cx="1952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697386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697386"/>
                </a:solidFill>
                <a:latin typeface="Arial"/>
                <a:ea typeface="Arial"/>
                <a:cs typeface="Arial"/>
              </a:rPr>
              <a:t>Review actual result against the expected result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9A553D92-044B-40B1-BFC4-4DEEE5637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238375"/>
            <a:ext cx="5238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168A83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168A83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FA272BF3-D171-46D5-B09B-C2A033F02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000375"/>
            <a:ext cx="1952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52033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152033"/>
                </a:solidFill>
                <a:latin typeface="Arial"/>
                <a:ea typeface="Arial"/>
                <a:cs typeface="Arial"/>
              </a:rPr>
              <a:t>SAVE EVIDENCE</a:t>
            </a:r>
          </a:p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973F2C76-F8EA-4C79-B168-711B1FA31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409950"/>
            <a:ext cx="1952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697386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697386"/>
                </a:solidFill>
                <a:latin typeface="Arial"/>
                <a:ea typeface="Arial"/>
                <a:cs typeface="Arial"/>
              </a:rPr>
              <a:t>Record safe screenshots, references, or notes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B80BBF66-9890-4A60-B289-8CD5040D4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238375"/>
            <a:ext cx="5238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2F75B5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2F75B5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8E9F147B-7839-485D-BA38-8D2666257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000375"/>
            <a:ext cx="1952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52033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152033"/>
                </a:solidFill>
                <a:latin typeface="Arial"/>
                <a:ea typeface="Arial"/>
                <a:cs typeface="Arial"/>
              </a:rPr>
              <a:t>SET STATUS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62B19006-DBE1-408E-8724-941DA468A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409950"/>
            <a:ext cx="1952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697386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697386"/>
                </a:solidFill>
                <a:latin typeface="Arial"/>
                <a:ea typeface="Arial"/>
                <a:cs typeface="Arial"/>
              </a:rPr>
              <a:t>Passed, Failed, Blocked, or Pending</a:t>
            </a:r>
          </a:p>
        </p:txBody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FEC24222-70BC-4966-8045-CAF7B2FD6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531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 i="0">
                <a:solidFill>
                  <a:srgbClr val="B77708"/>
                </a:solidFill>
                <a:latin typeface="Arial"/>
                <a:ea typeface="Arial"/>
                <a:cs typeface="Arial"/>
              </a:defRPr>
            </a:pPr>
            <a:r>
              <a:rPr sz="750" b="1" i="0">
                <a:solidFill>
                  <a:srgbClr val="B77708"/>
                </a:solidFill>
                <a:latin typeface="Arial"/>
                <a:ea typeface="Arial"/>
                <a:cs typeface="Arial"/>
              </a:rPr>
              <a:t>The client performs the test. The Project Owner facilitates, observes, records evidence, and avoids leading the result.</a:t>
            </a:r>
          </a:p>
        </p:txBody>
      </p:sp>
    </p:spTree>
    <p:extLst>
      <p:ext uri="{BB962C8B-B14F-4D97-AF65-F5344CB8AC3E}">
        <p14:creationId xmlns:p14="http://schemas.microsoft.com/office/powerpoint/2010/main" val="3104322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D7742CF6-2B8F-4B17-8A1D-25EA8C18C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000" lnSpcReduction="2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 i="0">
                <a:solidFill>
                  <a:srgbClr val="697386"/>
                </a:solidFill>
                <a:latin typeface="Arial"/>
                <a:ea typeface="Arial"/>
                <a:cs typeface="Arial"/>
              </a:defRPr>
            </a:pPr>
            <a:r>
              <a:rPr sz="750" b="1" i="0">
                <a:solidFill>
                  <a:srgbClr val="697386"/>
                </a:solidFill>
                <a:latin typeface="Arial"/>
                <a:ea typeface="Arial"/>
                <a:cs typeface="Arial"/>
              </a:rPr>
              <a:t>STARTUPLAB</a:t>
            </a:r>
          </a:p>
        </p:txBody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B0A1398-F593-41B0-BE7D-5F9692873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66700"/>
            <a:ext cx="2524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278" lnSpcReduction="2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675" b="1" i="0">
                <a:solidFill>
                  <a:srgbClr val="B77708"/>
                </a:solidFill>
                <a:latin typeface="Arial"/>
                <a:ea typeface="Arial"/>
                <a:cs typeface="Arial"/>
              </a:defRPr>
            </a:pPr>
            <a:r>
              <a:rPr sz="675" b="1" i="0">
                <a:solidFill>
                  <a:srgbClr val="B77708"/>
                </a:solidFill>
                <a:latin typeface="Arial"/>
                <a:ea typeface="Arial"/>
                <a:cs typeface="Arial"/>
              </a:rPr>
              <a:t> </a:t>
            </a:r>
            <a:endParaRPr sz="675" b="1" i="0">
              <a:solidFill>
                <a:srgbClr val="B7770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B6FFAB2-91D1-47EE-AECA-D87EFC181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14350"/>
            <a:ext cx="2286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4259" lnSpcReduction="2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675" b="1" i="0">
                <a:solidFill>
                  <a:srgbClr val="2F75B5"/>
                </a:solidFill>
                <a:latin typeface="Arial"/>
                <a:ea typeface="Arial"/>
                <a:cs typeface="Arial"/>
              </a:defRPr>
            </a:pPr>
            <a:r>
              <a:rPr sz="675" b="1" i="0">
                <a:solidFill>
                  <a:srgbClr val="2F75B5"/>
                </a:solidFill>
                <a:latin typeface="Arial"/>
                <a:ea typeface="Arial"/>
                <a:cs typeface="Arial"/>
              </a:rPr>
              <a:t>UAT CYCLE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9FF05D2-CE20-4344-BE14-45CFCC6A6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666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4259" lnSpcReduction="2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675" b="0" i="0">
                <a:solidFill>
                  <a:srgbClr val="697386"/>
                </a:solidFill>
                <a:latin typeface="Arial"/>
                <a:ea typeface="Arial"/>
                <a:cs typeface="Arial"/>
              </a:defRPr>
            </a:pPr>
            <a:r>
              <a:rPr sz="675" b="0" i="0">
                <a:solidFill>
                  <a:srgbClr val="697386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743A53D-AC0A-4C4D-A99A-4E2677CD6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1104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 i="0">
                <a:solidFill>
                  <a:srgbClr val="15203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52033"/>
                </a:solidFill>
                <a:latin typeface="Arial"/>
                <a:ea typeface="Arial"/>
                <a:cs typeface="Arial"/>
              </a:rPr>
              <a:t>UAT results summary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264C9911-AD9F-494D-B9D5-3066C2B8B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5255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697386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697386"/>
                </a:solidFill>
                <a:latin typeface="Arial"/>
                <a:ea typeface="Arial"/>
                <a:cs typeface="Arial"/>
              </a:rPr>
              <a:t>Summarize results by status and show the detailed record for important scenarios.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77177D96-C197-4D03-A0AF-6EAC9FFEA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857375"/>
            <a:ext cx="1047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sz="2850"/>
              <a:t>0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6D2CD471-85A4-4672-9675-44351A672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2047875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871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52033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152033"/>
                </a:solidFill>
                <a:latin typeface="Arial"/>
                <a:ea typeface="Arial"/>
                <a:cs typeface="Arial"/>
              </a:rPr>
              <a:t>PASSED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C1B6B12A-E6EE-4CCA-B0EC-0887E9649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857375"/>
            <a:ext cx="1047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sz="2850"/>
              <a:t>0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C57D6680-6954-474D-BB3B-F722FD925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047875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871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52033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152033"/>
                </a:solidFill>
                <a:latin typeface="Arial"/>
                <a:ea typeface="Arial"/>
                <a:cs typeface="Arial"/>
              </a:rPr>
              <a:t>FAILED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BDC517EA-59A2-4C4F-9BA1-CFAAECDAF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857375"/>
            <a:ext cx="1047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sz="2850"/>
              <a:t>0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33D7914D-840C-44BC-B87D-53B233925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2047875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871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52033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152033"/>
                </a:solidFill>
                <a:latin typeface="Arial"/>
                <a:ea typeface="Arial"/>
                <a:cs typeface="Arial"/>
              </a:rPr>
              <a:t>BLOCKED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EB37EE17-959E-489A-BA07-3035D2FE6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857375"/>
            <a:ext cx="1047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sz="2850"/>
              <a:t>110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C6D2C55A-3F1E-4477-AC8E-231841EAD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047875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8718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52033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152033"/>
                </a:solidFill>
                <a:latin typeface="Arial"/>
                <a:ea typeface="Arial"/>
                <a:cs typeface="Arial"/>
              </a:rPr>
              <a:t>PENDING</a:t>
            </a:r>
          </a:p>
        </p:txBody>
      </p:sp>
      <p:graphicFrame>
        <p:nvGraphicFramePr>
          <p:cNvPr id="33" name="Table 30"/>
          <p:cNvGraphicFramePr/>
          <p:nvPr/>
        </p:nvGraphicFramePr>
        <p:xfrm>
          <a:off xmlns:a="http://schemas.openxmlformats.org/drawingml/2006/main" x="457200" y="2857500"/>
          <a:ext xmlns:a="http://schemas.openxmlformats.org/drawingml/2006/main" cx="11277600" cy="10668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143250"/>
                <a:gridCol w="3238500"/>
                <a:gridCol w="3238500"/>
                <a:gridCol w="1657350"/>
              </a:tblGrid>
              <a:tr h="5334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UAT ID / Scenario</a:t>
                      </a:r>
                    </a:p>
                  </a:txBody>
                  <a:tcPr marL="76200" marR="76200" marT="57150" marB="57150" anchor="ctr"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Expected Result</a:t>
                      </a:r>
                    </a:p>
                  </a:txBody>
                  <a:tcPr marL="76200" marR="76200" marT="57150" marB="57150" anchor="ctr"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Actual Result</a:t>
                      </a:r>
                    </a:p>
                  </a:txBody>
                  <a:tcPr marL="76200" marR="76200" marT="57150" marB="57150" anchor="ctr"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Status</a:t>
                      </a:r>
                    </a:p>
                  </a:txBody>
                  <a:tcPr marL="76200" marR="76200" marT="57150" marB="57150" anchor="ctr">
                    <a:solidFill>
                      <a:srgbClr val="2F75B5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All 110 scenarios</a:t>
                      </a: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Per Appendix B</a:t>
                      </a: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Recorded during the session</a:t>
                      </a: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Pending</a:t>
                      </a:r>
                    </a:p>
                  </a:txBody>
                  <a:tcPr marL="76200" marR="76200" marT="57150" marB="57150" anchor="ctr"/>
                </a:tc>
              </a:tr>
            </a:tbl>
          </a:graphicData>
        </a:graphic>
      </p:graphicFrame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3D8DB2A3-CDBF-45B8-99C6-53FF759D5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531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 i="0">
                <a:solidFill>
                  <a:srgbClr val="B77708"/>
                </a:solidFill>
                <a:latin typeface="Arial"/>
                <a:ea typeface="Arial"/>
                <a:cs typeface="Arial"/>
              </a:defRPr>
            </a:pPr>
            <a:r>
              <a:rPr sz="750" b="1" i="0">
                <a:solidFill>
                  <a:srgbClr val="B77708"/>
                </a:solidFill>
                <a:latin typeface="Arial"/>
                <a:ea typeface="Arial"/>
                <a:cs typeface="Arial"/>
              </a:rPr>
              <a:t>Use the detailed UAT record as the source. Explain blocked tests separately from failed tests.</a:t>
            </a:r>
          </a:p>
        </p:txBody>
      </p:sp>
    </p:spTree>
    <p:extLst>
      <p:ext uri="{BB962C8B-B14F-4D97-AF65-F5344CB8AC3E}">
        <p14:creationId xmlns:p14="http://schemas.microsoft.com/office/powerpoint/2010/main" val="13245947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8054F70C-AD97-450C-ACDC-9A373F144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000" lnSpcReduction="2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 i="0">
                <a:solidFill>
                  <a:srgbClr val="697386"/>
                </a:solidFill>
                <a:latin typeface="Arial"/>
                <a:ea typeface="Arial"/>
                <a:cs typeface="Arial"/>
              </a:defRPr>
            </a:pPr>
            <a:r>
              <a:rPr sz="750" b="1" i="0">
                <a:solidFill>
                  <a:srgbClr val="697386"/>
                </a:solidFill>
                <a:latin typeface="Arial"/>
                <a:ea typeface="Arial"/>
                <a:cs typeface="Arial"/>
              </a:rPr>
              <a:t>STARTUPLAB</a:t>
            </a:r>
          </a:p>
        </p:txBody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0A5D3F2-909D-402A-B526-99F453C03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66700"/>
            <a:ext cx="2524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278" lnSpcReduction="2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675" b="1" i="0">
                <a:solidFill>
                  <a:srgbClr val="B77708"/>
                </a:solidFill>
                <a:latin typeface="Arial"/>
                <a:ea typeface="Arial"/>
                <a:cs typeface="Arial"/>
              </a:defRPr>
            </a:pPr>
            <a:r>
              <a:rPr sz="675" b="1" i="0">
                <a:solidFill>
                  <a:srgbClr val="B77708"/>
                </a:solidFill>
                <a:latin typeface="Arial"/>
                <a:ea typeface="Arial"/>
                <a:cs typeface="Arial"/>
              </a:rPr>
              <a:t> </a:t>
            </a:r>
            <a:endParaRPr sz="675" b="1" i="0">
              <a:solidFill>
                <a:srgbClr val="B7770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911E59F1-334B-4707-88AC-EDE32C776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14350"/>
            <a:ext cx="2286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4259" lnSpcReduction="2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675" b="1" i="0">
                <a:solidFill>
                  <a:srgbClr val="2F75B5"/>
                </a:solidFill>
                <a:latin typeface="Arial"/>
                <a:ea typeface="Arial"/>
                <a:cs typeface="Arial"/>
              </a:defRPr>
            </a:pPr>
            <a:r>
              <a:rPr sz="675" b="1" i="0">
                <a:solidFill>
                  <a:srgbClr val="2F75B5"/>
                </a:solidFill>
                <a:latin typeface="Arial"/>
                <a:ea typeface="Arial"/>
                <a:cs typeface="Arial"/>
              </a:rPr>
              <a:t>UAT CYCLE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344ED98-EF42-4EEA-BDAA-ABAB385DF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666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4259" lnSpcReduction="2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675" b="0" i="0">
                <a:solidFill>
                  <a:srgbClr val="697386"/>
                </a:solidFill>
                <a:latin typeface="Arial"/>
                <a:ea typeface="Arial"/>
                <a:cs typeface="Arial"/>
              </a:defRPr>
            </a:pPr>
            <a:r>
              <a:rPr sz="675" b="0" i="0">
                <a:solidFill>
                  <a:srgbClr val="697386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BA28DA5-820D-459A-AA09-4E4C5A214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1104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 i="0">
                <a:solidFill>
                  <a:srgbClr val="15203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52033"/>
                </a:solidFill>
                <a:latin typeface="Arial"/>
                <a:ea typeface="Arial"/>
                <a:cs typeface="Arial"/>
              </a:rPr>
              <a:t>Issues, retesting, and action plan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6D4FC0E1-B608-4D80-B3EC-A11F26A9A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5255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697386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697386"/>
                </a:solidFill>
                <a:latin typeface="Arial"/>
                <a:ea typeface="Arial"/>
                <a:cs typeface="Arial"/>
              </a:rPr>
              <a:t>Separate confirmed defects from data, access, training, and new-scope concerns.</a:t>
            </a:r>
          </a:p>
        </p:txBody>
      </p:sp>
      <p:graphicFrame>
        <p:nvGraphicFramePr>
          <p:cNvPr id="17" name="Table 14"/>
          <p:cNvGraphicFramePr/>
          <p:nvPr/>
        </p:nvGraphicFramePr>
        <p:xfrm>
          <a:off xmlns:a="http://schemas.openxmlformats.org/drawingml/2006/main" x="457200" y="1857375"/>
          <a:ext xmlns:a="http://schemas.openxmlformats.org/drawingml/2006/main" cx="11277600" cy="1143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428750"/>
                <a:gridCol w="2571750"/>
                <a:gridCol w="3524250"/>
                <a:gridCol w="2095500"/>
                <a:gridCol w="1657350"/>
              </a:tblGrid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Issue ID</a:t>
                      </a:r>
                    </a:p>
                  </a:txBody>
                  <a:tcPr marL="76200" marR="76200" marT="57150" marB="57150" anchor="ctr">
                    <a:solidFill>
                      <a:srgbClr val="2F75B5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Type / Impact</a:t>
                      </a:r>
                    </a:p>
                  </a:txBody>
                  <a:tcPr marL="76200" marR="76200" marT="57150" marB="57150" anchor="ctr">
                    <a:solidFill>
                      <a:srgbClr val="2F75B5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Agreed Action</a:t>
                      </a:r>
                    </a:p>
                  </a:txBody>
                  <a:tcPr marL="76200" marR="76200" marT="57150" marB="57150" anchor="ctr">
                    <a:solidFill>
                      <a:srgbClr val="2F75B5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Owner</a:t>
                      </a:r>
                    </a:p>
                  </a:txBody>
                  <a:tcPr marL="76200" marR="76200" marT="57150" marB="57150" anchor="ctr">
                    <a:solidFill>
                      <a:srgbClr val="2F75B5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Target / Retest</a:t>
                      </a:r>
                    </a:p>
                  </a:txBody>
                  <a:tcPr marL="76200" marR="76200" marT="57150" marB="57150" anchor="ctr">
                    <a:solidFill>
                      <a:srgbClr val="2F75B5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750" b="0">
                          <a:solidFill>
                            <a:srgbClr val="1A1A1A"/>
                          </a:solidFill>
                          <a:latin typeface="Aptos"/>
                          <a:ea typeface="Aptos"/>
                          <a:cs typeface="Aptos"/>
                        </a:rPr>
                        <a:t>UAT-025</a:t>
                      </a:r>
                    </a:p>
                  </a:txBody>
                  <a:tcPr marL="76200" marR="76200" marT="57150" marB="57150" anchor="ctr"/>
                </a:tc>
                <a:tc>
                  <a:txBody>
                    <a:bodyPr>
                      <a:normAutofit/>
                    </a:bodyPr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750" b="0">
                          <a:solidFill>
                            <a:srgbClr val="1A1A1A"/>
                          </a:solidFill>
                          <a:latin typeface="Aptos"/>
                          <a:ea typeface="Aptos"/>
                          <a:cs typeface="Aptos"/>
                        </a:rPr>
                        <a:t>Defect: agent information missing from loan applications</a:t>
                      </a:r>
                    </a:p>
                  </a:txBody>
                  <a:tcPr marL="76200" marR="76200" marT="57150" marB="57150" anchor="ctr"/>
                </a:tc>
                <a:tc>
                  <a:txBody>
                    <a:bodyPr>
                      <a:normAutofit/>
                    </a:bodyPr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750" b="0">
                          <a:solidFill>
                            <a:srgbClr val="1A1A1A"/>
                          </a:solidFill>
                          <a:latin typeface="Aptos"/>
                          <a:ea typeface="Aptos"/>
                          <a:cs typeface="Aptos"/>
                        </a:rPr>
                        <a:t>Added staff-editable agent assignment and form display</a:t>
                      </a:r>
                    </a:p>
                  </a:txBody>
                  <a:tcPr marL="76200" marR="76200" marT="57150" marB="57150" anchor="ctr"/>
                </a:tc>
                <a:tc>
                  <a:txBody>
                    <a:bodyPr>
                      <a:normAutofit/>
                    </a:bodyPr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750" b="0">
                          <a:solidFill>
                            <a:srgbClr val="1A1A1A"/>
                          </a:solidFill>
                          <a:latin typeface="Aptos"/>
                          <a:ea typeface="Aptos"/>
                          <a:cs typeface="Aptos"/>
                        </a:rPr>
                        <a:t>Rovick Romasanta</a:t>
                      </a:r>
                      <a:endParaRPr sz="975"/>
                    </a:p>
                  </a:txBody>
                  <a:tcPr marL="76200" marR="76200" marT="57150" marB="57150" anchor="ctr"/>
                </a:tc>
                <a:tc>
                  <a:txBody>
                    <a:bodyPr>
                      <a:normAutofit/>
                    </a:bodyPr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750" b="0">
                          <a:solidFill>
                            <a:srgbClr val="1A1A1A"/>
                          </a:solidFill>
                          <a:latin typeface="Aptos"/>
                          <a:ea typeface="Aptos"/>
                          <a:cs typeface="Aptos"/>
                        </a:rPr>
                        <a:t>Closed today</a:t>
                      </a:r>
                    </a:p>
                  </a:txBody>
                  <a:tcPr marL="76200" marR="76200" marT="57150" marB="57150" anchor="ctr"/>
                </a:tc>
              </a:tr>
              <a:tr h="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Aptos"/>
                          <a:ea typeface="Aptos"/>
                          <a:cs typeface="Aptos"/>
                        </a:rPr>
                        <a:t>UAT-040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Aptos"/>
                          <a:ea typeface="Aptos"/>
                          <a:cs typeface="Aptos"/>
                        </a:rPr>
                        <a:t>Defect: committee hold could not be cleared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Aptos"/>
                          <a:ea typeface="Aptos"/>
                          <a:cs typeface="Aptos"/>
                        </a:rPr>
                        <a:t>Added clear-hold action; return application to committee review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Aptos"/>
                          <a:ea typeface="Aptos"/>
                          <a:cs typeface="Aptos"/>
                        </a:rPr>
                        <a:t>Rovick Romasanta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Aptos"/>
                          <a:ea typeface="Aptos"/>
                          <a:cs typeface="Aptos"/>
                        </a:rPr>
                        <a:t>Closed today</a:t>
                      </a:r>
                    </a:p>
                  </a:txBody>
                  <a:tcPr marL="91440" marR="91440" marT="45720" marB="45720"/>
                </a:tc>
              </a:tr>
              <a:tr h="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Aptos"/>
                          <a:ea typeface="Aptos"/>
                          <a:cs typeface="Aptos"/>
                        </a:rPr>
                        <a:t>UAT-076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Aptos"/>
                          <a:ea typeface="Aptos"/>
                          <a:cs typeface="Aptos"/>
                        </a:rPr>
                        <a:t>Enhancement: User Management filtering and account separation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Aptos"/>
                          <a:ea typeface="Aptos"/>
                          <a:cs typeface="Aptos"/>
                        </a:rPr>
                        <a:t>Added role filters, pagination, and borrower/staff separation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Aptos"/>
                          <a:ea typeface="Aptos"/>
                          <a:cs typeface="Aptos"/>
                        </a:rPr>
                        <a:t>Rovick Romasanta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Aptos"/>
                          <a:ea typeface="Aptos"/>
                          <a:cs typeface="Aptos"/>
                        </a:rPr>
                        <a:t>Closed today</a:t>
                      </a:r>
                    </a:p>
                  </a:txBody>
                  <a:tcPr marL="91440" marR="91440" marT="45720" marB="45720"/>
                </a:tc>
              </a:tr>
              <a:tr h="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Aptos"/>
                          <a:ea typeface="Aptos"/>
                          <a:cs typeface="Aptos"/>
                        </a:rPr>
                        <a:t>UAT-078 / 079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Aptos"/>
                          <a:ea typeface="Aptos"/>
                          <a:cs typeface="Aptos"/>
                        </a:rPr>
                        <a:t>Defect: deactivated account retained access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Aptos"/>
                          <a:ea typeface="Aptos"/>
                          <a:cs typeface="Aptos"/>
                        </a:rPr>
                        <a:t>Disabled access immediately; reactivation restores access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Aptos"/>
                          <a:ea typeface="Aptos"/>
                          <a:cs typeface="Aptos"/>
                        </a:rPr>
                        <a:t>Rovick Romasanta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Aptos"/>
                          <a:ea typeface="Aptos"/>
                          <a:cs typeface="Aptos"/>
                        </a:rPr>
                        <a:t>Closed today</a:t>
                      </a:r>
                    </a:p>
                  </a:txBody>
                  <a:tcPr marL="91440" marR="91440" marT="45720" marB="45720"/>
                </a:tc>
              </a:tr>
              <a:tr h="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Aptos"/>
                          <a:ea typeface="Aptos"/>
                          <a:cs typeface="Aptos"/>
                        </a:rPr>
                        <a:t>UAT-094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Aptos"/>
                          <a:ea typeface="Aptos"/>
                          <a:cs typeface="Aptos"/>
                        </a:rPr>
                        <a:t>Defect: restricted-page message unclear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Aptos"/>
                          <a:ea typeface="Aptos"/>
                          <a:cs typeface="Aptos"/>
                        </a:rPr>
                        <a:t>Added clear restricted-access message and safe return route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Aptos"/>
                          <a:ea typeface="Aptos"/>
                          <a:cs typeface="Aptos"/>
                        </a:rPr>
                        <a:t>Rovick Romasanta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Aptos"/>
                          <a:ea typeface="Aptos"/>
                          <a:cs typeface="Aptos"/>
                        </a:rPr>
                        <a:t>Closed today</a:t>
                      </a:r>
                    </a:p>
                  </a:txBody>
                  <a:tcPr marL="91440" marR="91440" marT="45720" marB="45720"/>
                </a:tc>
              </a:tr>
              <a:tr h="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Aptos"/>
                          <a:ea typeface="Aptos"/>
                          <a:cs typeface="Aptos"/>
                        </a:rPr>
                        <a:t>Meeting follow-up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Aptos"/>
                          <a:ea typeface="Aptos"/>
                          <a:cs typeface="Aptos"/>
                        </a:rPr>
                        <a:t>Agent dashboard showed organisation-wide Agent data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Aptos"/>
                          <a:ea typeface="Aptos"/>
                          <a:cs typeface="Aptos"/>
                        </a:rPr>
                        <a:t>Scoped Agent dashboard analytics to the signed-in Agent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Aptos"/>
                          <a:ea typeface="Aptos"/>
                          <a:cs typeface="Aptos"/>
                        </a:rPr>
                        <a:t>Rovick Romasanta</a:t>
                      </a:r>
                    </a:p>
                  </a:txBody>
                  <a:tcPr marL="91440" marR="91440" marT="45720" marB="45720"/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750" b="0">
                          <a:solidFill>
                            <a:srgbClr val="1A1A1A"/>
                          </a:solidFill>
                          <a:latin typeface="Aptos"/>
                          <a:ea typeface="Aptos"/>
                          <a:cs typeface="Aptos"/>
                        </a:rPr>
                        <a:t>Closed today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2304B6A4-8AE1-4F38-85A6-D420A8E15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531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 i="0">
                <a:solidFill>
                  <a:srgbClr val="B77708"/>
                </a:solidFill>
                <a:latin typeface="Arial"/>
                <a:ea typeface="Arial"/>
                <a:cs typeface="Arial"/>
              </a:defRPr>
            </a:pPr>
            <a:r>
              <a:rPr sz="750" b="1" i="0">
                <a:solidFill>
                  <a:srgbClr val="B77708"/>
                </a:solidFill>
                <a:latin typeface="Arial"/>
                <a:ea typeface="Arial"/>
                <a:cs typeface="Arial"/>
              </a:rPr>
              <a:t>Every action needs one accountable owner, a target date, and a clear condition for closure.</a:t>
            </a:r>
          </a:p>
        </p:txBody>
      </p:sp>
    </p:spTree>
    <p:extLst>
      <p:ext uri="{BB962C8B-B14F-4D97-AF65-F5344CB8AC3E}">
        <p14:creationId xmlns:p14="http://schemas.microsoft.com/office/powerpoint/2010/main" val="40639621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B70E5768-D81C-4E04-8CAE-ED9118322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000" lnSpcReduction="2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 i="0">
                <a:solidFill>
                  <a:srgbClr val="697386"/>
                </a:solidFill>
                <a:latin typeface="Arial"/>
                <a:ea typeface="Arial"/>
                <a:cs typeface="Arial"/>
              </a:defRPr>
            </a:pPr>
            <a:r>
              <a:rPr sz="750" b="1" i="0">
                <a:solidFill>
                  <a:srgbClr val="697386"/>
                </a:solidFill>
                <a:latin typeface="Arial"/>
                <a:ea typeface="Arial"/>
                <a:cs typeface="Arial"/>
              </a:rPr>
              <a:t>STARTUPLAB</a:t>
            </a:r>
          </a:p>
        </p:txBody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0AB77D0-8811-4141-B0BF-A8E5A1C14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66700"/>
            <a:ext cx="2524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278" lnSpcReduction="2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675" b="1" i="0">
                <a:solidFill>
                  <a:srgbClr val="B77708"/>
                </a:solidFill>
                <a:latin typeface="Arial"/>
                <a:ea typeface="Arial"/>
                <a:cs typeface="Arial"/>
              </a:defRPr>
            </a:pPr>
            <a:r>
              <a:rPr sz="675" b="1" i="0">
                <a:solidFill>
                  <a:srgbClr val="B77708"/>
                </a:solidFill>
                <a:latin typeface="Arial"/>
                <a:ea typeface="Arial"/>
                <a:cs typeface="Arial"/>
              </a:rPr>
              <a:t> </a:t>
            </a:r>
            <a:endParaRPr sz="675" b="1" i="0">
              <a:solidFill>
                <a:srgbClr val="B7770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6EA8DB6-14CB-47B6-8E50-FF48DE352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14350"/>
            <a:ext cx="2286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4259" lnSpcReduction="2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675" b="1" i="0">
                <a:solidFill>
                  <a:srgbClr val="2F75B5"/>
                </a:solidFill>
                <a:latin typeface="Arial"/>
                <a:ea typeface="Arial"/>
                <a:cs typeface="Arial"/>
              </a:defRPr>
            </a:pPr>
            <a:r>
              <a:rPr sz="675" b="1" i="0">
                <a:solidFill>
                  <a:srgbClr val="2F75B5"/>
                </a:solidFill>
                <a:latin typeface="Arial"/>
                <a:ea typeface="Arial"/>
                <a:cs typeface="Arial"/>
              </a:rPr>
              <a:t>UAT CYCLE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FDD0F2B-F0E4-48C5-89BC-314D0823A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666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4259" lnSpcReduction="2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675" b="0" i="0">
                <a:solidFill>
                  <a:srgbClr val="697386"/>
                </a:solidFill>
                <a:latin typeface="Arial"/>
                <a:ea typeface="Arial"/>
                <a:cs typeface="Arial"/>
              </a:defRPr>
            </a:pPr>
            <a:r>
              <a:rPr sz="675" b="0" i="0">
                <a:solidFill>
                  <a:srgbClr val="697386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B3AEE09-1558-4E4E-996A-E5BDC792F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1104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 i="0">
                <a:solidFill>
                  <a:srgbClr val="15203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52033"/>
                </a:solidFill>
                <a:latin typeface="Arial"/>
                <a:ea typeface="Arial"/>
                <a:cs typeface="Arial"/>
              </a:rPr>
              <a:t>UAT decision and sign-off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6069AB43-D8AD-4035-8CA1-412426F53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5255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697386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697386"/>
                </a:solidFill>
                <a:latin typeface="Arial"/>
                <a:ea typeface="Arial"/>
                <a:cs typeface="Arial"/>
              </a:rPr>
              <a:t>Record one decision supported by the completed tests, evidence, and agreed actions.</a:t>
            </a:r>
          </a:p>
        </p:txBody>
      </p:sp>
      <p:sp>
        <p:nvSpPr>
          <p:cNvPr id="7" name="Rectangle: Rounded Corners 6">
            <a:extLst xmlns:a="http://schemas.openxmlformats.org/drawingml/2006/main">
              <a:ext uri="{FF2B5EF4-FFF2-40B4-BE49-F238E27FC236}">
                <a16:creationId xmlns:a16="http://schemas.microsoft.com/office/drawing/2014/main" id="{42AF2BE5-4175-4E79-AE48-33C2891A7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952625"/>
            <a:ext cx="257175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68A6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0380F394-CC5E-4646-B511-CEC768BF4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143125"/>
            <a:ext cx="2419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ACCEPTED</a:t>
            </a:r>
          </a:p>
        </p:txBody>
      </p:sp>
      <p:sp>
        <p:nvSpPr>
          <p:cNvPr id="9" name="Rectangle: Rounded Corners 8">
            <a:extLst xmlns:a="http://schemas.openxmlformats.org/drawingml/2006/main">
              <a:ext uri="{FF2B5EF4-FFF2-40B4-BE49-F238E27FC236}">
                <a16:creationId xmlns:a16="http://schemas.microsoft.com/office/drawing/2014/main" id="{E6CBE3DF-17D1-4443-A8DC-4CB85F0B1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952625"/>
            <a:ext cx="257175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2F75B5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7DF0655A-B7E2-4A66-81BB-955E74E36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143125"/>
            <a:ext cx="2419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ACCEPTED WITH ACTIONS</a:t>
            </a:r>
          </a:p>
        </p:txBody>
      </p:sp>
      <p:sp>
        <p:nvSpPr>
          <p:cNvPr id="11" name="Rectangle: Rounded Corners 10">
            <a:extLst xmlns:a="http://schemas.openxmlformats.org/drawingml/2006/main">
              <a:ext uri="{FF2B5EF4-FFF2-40B4-BE49-F238E27FC236}">
                <a16:creationId xmlns:a16="http://schemas.microsoft.com/office/drawing/2014/main" id="{8D1CB977-F727-466B-B98F-D30FCDC05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952625"/>
            <a:ext cx="257175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B7770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A3139D0F-B58F-43C2-9DC4-7714F0301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2143125"/>
            <a:ext cx="2419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RETEST REQUIRED</a:t>
            </a:r>
          </a:p>
        </p:txBody>
      </p:sp>
      <p:sp>
        <p:nvSpPr>
          <p:cNvPr id="13" name="Rectangle: Rounded Corners 12">
            <a:extLst xmlns:a="http://schemas.openxmlformats.org/drawingml/2006/main">
              <a:ext uri="{FF2B5EF4-FFF2-40B4-BE49-F238E27FC236}">
                <a16:creationId xmlns:a16="http://schemas.microsoft.com/office/drawing/2014/main" id="{0655CE31-5B3D-422E-BDA7-B61F72FD8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952625"/>
            <a:ext cx="257175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B64A43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7AACC76D-5A52-4C36-8872-7A526DFD6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143125"/>
            <a:ext cx="2419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NOT ACCEPTED</a:t>
            </a:r>
          </a:p>
        </p:txBody>
      </p:sp>
      <p:graphicFrame>
        <p:nvGraphicFramePr>
          <p:cNvPr id="33" name="Table 30"/>
          <p:cNvGraphicFramePr/>
          <p:nvPr/>
        </p:nvGraphicFramePr>
        <p:xfrm>
          <a:off xmlns:a="http://schemas.openxmlformats.org/drawingml/2006/main" x="457200" y="3048000"/>
          <a:ext xmlns:a="http://schemas.openxmlformats.org/drawingml/2006/main" cx="11277600" cy="2714628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143250"/>
                <a:gridCol w="8134350"/>
              </a:tblGrid>
              <a:tr h="452438"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Decision Record</a:t>
                      </a:r>
                    </a:p>
                  </a:txBody>
                  <a:tcPr marL="76200" marR="76200" marT="57150" marB="57150" anchor="ctr"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Information to Complete</a:t>
                      </a:r>
                    </a:p>
                  </a:txBody>
                  <a:tcPr marL="76200" marR="76200" marT="57150" marB="57150" anchor="ctr">
                    <a:solidFill>
                      <a:srgbClr val="2F75B5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52033"/>
                          </a:solidFill>
                          <a:latin typeface="Arial"/>
                          <a:ea typeface="Arial"/>
                          <a:cs typeface="Arial"/>
                        </a:rPr>
                        <a:t>Selected status</a:t>
                      </a: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Selected at end of session</a:t>
                      </a:r>
                    </a:p>
                  </a:txBody>
                  <a:tcPr marL="76200" marR="76200" marT="57150" marB="57150" anchor="ctr"/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52033"/>
                          </a:solidFill>
                          <a:latin typeface="Arial"/>
                          <a:ea typeface="Arial"/>
                          <a:cs typeface="Arial"/>
                        </a:rPr>
                        <a:t>Reason</a:t>
                      </a:r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Based on recorded evidence</a:t>
                      </a:r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52033"/>
                          </a:solidFill>
                          <a:latin typeface="Arial"/>
                          <a:ea typeface="Arial"/>
                          <a:cs typeface="Arial"/>
                        </a:rPr>
                        <a:t>Acceptance conditions</a:t>
                      </a: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Based on remaining actions, if any</a:t>
                      </a:r>
                    </a:p>
                  </a:txBody>
                  <a:tcPr marL="76200" marR="76200" marT="57150" marB="57150" anchor="ctr"/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52033"/>
                          </a:solidFill>
                          <a:latin typeface="Arial"/>
                          <a:ea typeface="Arial"/>
                          <a:cs typeface="Arial"/>
                        </a:rPr>
                        <a:t>Authorized client approver</a:t>
                      </a:r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Name, role, date — TBD by client</a:t>
                      </a:r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52033"/>
                          </a:solidFill>
                          <a:latin typeface="Arial"/>
                          <a:ea typeface="Arial"/>
                          <a:cs typeface="Arial"/>
                        </a:rPr>
                        <a:t>Approval evidence</a:t>
                      </a: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Appendix G — UAT Acceptance Form</a:t>
                      </a:r>
                    </a:p>
                  </a:txBody>
                  <a:tcPr marL="76200" marR="76200" marT="57150" marB="57150" anchor="ctr"/>
                </a:tc>
              </a:tr>
            </a:tbl>
          </a:graphicData>
        </a:graphic>
      </p:graphicFrame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F2B73607-60CC-4FF5-8DD5-FEFB17E10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531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 i="0">
                <a:solidFill>
                  <a:srgbClr val="B77708"/>
                </a:solidFill>
                <a:latin typeface="Arial"/>
                <a:ea typeface="Arial"/>
                <a:cs typeface="Arial"/>
              </a:defRPr>
            </a:pPr>
            <a:r>
              <a:rPr sz="750" b="1" i="0">
                <a:solidFill>
                  <a:srgbClr val="B77708"/>
                </a:solidFill>
                <a:latin typeface="Arial"/>
                <a:ea typeface="Arial"/>
                <a:cs typeface="Arial"/>
              </a:rPr>
              <a:t>Do not pressure the client to accept critical incomplete work. Read back the decision and conditions before closing.</a:t>
            </a:r>
          </a:p>
        </p:txBody>
      </p:sp>
    </p:spTree>
    <p:extLst>
      <p:ext uri="{BB962C8B-B14F-4D97-AF65-F5344CB8AC3E}">
        <p14:creationId xmlns:p14="http://schemas.microsoft.com/office/powerpoint/2010/main" val="33887621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4C4470DF-584A-4C35-B328-AFF262C07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000" lnSpcReduction="2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 i="0">
                <a:solidFill>
                  <a:srgbClr val="697386"/>
                </a:solidFill>
                <a:latin typeface="Arial"/>
                <a:ea typeface="Arial"/>
                <a:cs typeface="Arial"/>
              </a:defRPr>
            </a:pPr>
            <a:r>
              <a:rPr sz="750" b="1" i="0">
                <a:solidFill>
                  <a:srgbClr val="697386"/>
                </a:solidFill>
                <a:latin typeface="Arial"/>
                <a:ea typeface="Arial"/>
                <a:cs typeface="Arial"/>
              </a:rPr>
              <a:t>STARTUPLAB</a:t>
            </a:r>
          </a:p>
        </p:txBody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E20113DF-A1F9-42C7-835A-0A6E9D5FC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66700"/>
            <a:ext cx="2524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278" lnSpcReduction="2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675" b="1" i="0">
                <a:solidFill>
                  <a:srgbClr val="B77708"/>
                </a:solidFill>
                <a:latin typeface="Arial"/>
                <a:ea typeface="Arial"/>
                <a:cs typeface="Arial"/>
              </a:defRPr>
            </a:pPr>
            <a:r>
              <a:rPr sz="675" b="1" i="0">
                <a:solidFill>
                  <a:srgbClr val="B77708"/>
                </a:solidFill>
                <a:latin typeface="Arial"/>
                <a:ea typeface="Arial"/>
                <a:cs typeface="Arial"/>
              </a:rPr>
              <a:t> </a:t>
            </a:r>
            <a:endParaRPr sz="675" b="1" i="0">
              <a:solidFill>
                <a:srgbClr val="B7770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D9C5080C-EC3F-4D41-AA2B-DFA2CADFF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14350"/>
            <a:ext cx="2286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4259" lnSpcReduction="2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675" b="1" i="0">
                <a:solidFill>
                  <a:srgbClr val="2F75B5"/>
                </a:solidFill>
                <a:latin typeface="Arial"/>
                <a:ea typeface="Arial"/>
                <a:cs typeface="Arial"/>
              </a:defRPr>
            </a:pPr>
            <a:r>
              <a:rPr sz="675" b="1" i="0">
                <a:solidFill>
                  <a:srgbClr val="2F75B5"/>
                </a:solidFill>
                <a:latin typeface="Arial"/>
                <a:ea typeface="Arial"/>
                <a:cs typeface="Arial"/>
              </a:rPr>
              <a:t>CLOSEOUT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4FC2D53-CCC6-4EB7-A30D-FD48F9325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666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4259" lnSpcReduction="2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675" b="0" i="0">
                <a:solidFill>
                  <a:srgbClr val="697386"/>
                </a:solidFill>
                <a:latin typeface="Arial"/>
                <a:ea typeface="Arial"/>
                <a:cs typeface="Arial"/>
              </a:defRPr>
            </a:pPr>
            <a:r>
              <a:rPr sz="675" b="0" i="0">
                <a:solidFill>
                  <a:srgbClr val="697386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6463D69-F0D3-42E9-AAE7-668F0C49D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1104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 i="0">
                <a:solidFill>
                  <a:srgbClr val="152033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52033"/>
                </a:solidFill>
                <a:latin typeface="Arial"/>
                <a:ea typeface="Arial"/>
                <a:cs typeface="Arial"/>
              </a:rPr>
              <a:t>Next steps toward final handover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D5898B12-658B-42EF-982C-A2811E7CD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5255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697386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697386"/>
                </a:solidFill>
                <a:latin typeface="Arial"/>
                <a:ea typeface="Arial"/>
                <a:cs typeface="Arial"/>
              </a:rPr>
              <a:t>Close the UAT cycle with owners, dates, and the next decision gate.</a:t>
            </a:r>
          </a:p>
        </p:txBody>
      </p:sp>
      <p:graphicFrame>
        <p:nvGraphicFramePr>
          <p:cNvPr id="17" name="Table 14"/>
          <p:cNvGraphicFramePr/>
          <p:nvPr/>
        </p:nvGraphicFramePr>
        <p:xfrm>
          <a:off xmlns:a="http://schemas.openxmlformats.org/drawingml/2006/main" x="457200" y="1857375"/>
          <a:ext xmlns:a="http://schemas.openxmlformats.org/drawingml/2006/main" cx="11277600" cy="3714753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810000"/>
                <a:gridCol w="2857500"/>
                <a:gridCol w="2095500"/>
                <a:gridCol w="2514600"/>
              </a:tblGrid>
              <a:tr h="530679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Next Step</a:t>
                      </a:r>
                    </a:p>
                  </a:txBody>
                  <a:tcPr marL="76200" marR="76200" marT="57150" marB="57150" anchor="ctr"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Owner</a:t>
                      </a:r>
                    </a:p>
                  </a:txBody>
                  <a:tcPr marL="76200" marR="76200" marT="57150" marB="57150" anchor="ctr"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Target Date</a:t>
                      </a:r>
                    </a:p>
                  </a:txBody>
                  <a:tcPr marL="76200" marR="76200" marT="57150" marB="57150" anchor="ctr"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Completion Evidence</a:t>
                      </a:r>
                    </a:p>
                  </a:txBody>
                  <a:tcPr marL="76200" marR="76200" marT="57150" marB="57150" anchor="ctr">
                    <a:solidFill>
                      <a:srgbClr val="2F75B5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825">
                          <a:solidFill>
                            <a:srgbClr val="152033"/>
                          </a:solidFill>
                          <a:latin typeface="Arial"/>
                          <a:ea typeface="Arial"/>
                          <a:cs typeface="Arial"/>
                        </a:rPr>
                        <a:t>Send UAT summary and meeting record</a:t>
                      </a: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Rovick Romasanta</a:t>
                      </a:r>
                      <a:endParaRPr sz="975"/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Within 1 business day</a:t>
                      </a: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Email to Client Main Contact</a:t>
                      </a:r>
                    </a:p>
                  </a:txBody>
                  <a:tcPr marL="76200" marR="76200" marT="57150" marB="57150" anchor="ctr"/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825">
                          <a:solidFill>
                            <a:srgbClr val="152033"/>
                          </a:solidFill>
                          <a:latin typeface="Arial"/>
                          <a:ea typeface="Arial"/>
                          <a:cs typeface="Arial"/>
                        </a:rPr>
                        <a:t>Complete remaining approved actions</a:t>
                      </a:r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Per Appendix C issue log</a:t>
                      </a:r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Per agreed retest date</a:t>
                      </a:r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Updated Appendix C entry</a:t>
                      </a:r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825">
                          <a:solidFill>
                            <a:srgbClr val="152033"/>
                          </a:solidFill>
                          <a:latin typeface="Arial"/>
                          <a:ea typeface="Arial"/>
                          <a:cs typeface="Arial"/>
                        </a:rPr>
                        <a:t>Retest affected scenarios</a:t>
                      </a: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Client tester / Project Owner</a:t>
                      </a: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Per agreed retest date</a:t>
                      </a: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Updated Appendix B record</a:t>
                      </a:r>
                    </a:p>
                  </a:txBody>
                  <a:tcPr marL="76200" marR="76200" marT="57150" marB="57150" anchor="ctr"/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825">
                          <a:solidFill>
                            <a:srgbClr val="152033"/>
                          </a:solidFill>
                          <a:latin typeface="Arial"/>
                          <a:ea typeface="Arial"/>
                          <a:cs typeface="Arial"/>
                        </a:rPr>
                        <a:t>Secure written UAT approval</a:t>
                      </a:r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Authorized Client Approver</a:t>
                      </a:r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TBD</a:t>
                      </a:r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Appendix G, signed</a:t>
                      </a:r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825">
                          <a:solidFill>
                            <a:srgbClr val="152033"/>
                          </a:solidFill>
                          <a:latin typeface="Arial"/>
                          <a:ea typeface="Arial"/>
                          <a:cs typeface="Arial"/>
                        </a:rPr>
                        <a:t>Prepare final handover package</a:t>
                      </a: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Rovick Romasanta</a:t>
                      </a: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TBD</a:t>
                      </a: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Handover checklist</a:t>
                      </a:r>
                    </a:p>
                  </a:txBody>
                  <a:tcPr marL="76200" marR="76200" marT="57150" marB="57150" anchor="ctr"/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825">
                          <a:solidFill>
                            <a:srgbClr val="152033"/>
                          </a:solidFill>
                          <a:latin typeface="Arial"/>
                          <a:ea typeface="Arial"/>
                          <a:cs typeface="Arial"/>
                        </a:rPr>
                        <a:t>Conduct final handover meeting</a:t>
                      </a:r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Rovick Romasanta and LSLGC</a:t>
                      </a:r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TBD</a:t>
                      </a:r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  <a:buNone/>
                      </a:pPr>
                      <a:r>
                        <a:rPr sz="975"/>
                        <a:t>Signed handover record</a:t>
                      </a:r>
                    </a:p>
                  </a:txBody>
                  <a:tcPr marL="76200" marR="76200" marT="57150" marB="57150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A4AA358A-A635-41A5-885A-21C882205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531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 i="0">
                <a:solidFill>
                  <a:srgbClr val="B77708"/>
                </a:solidFill>
                <a:latin typeface="Arial"/>
                <a:ea typeface="Arial"/>
                <a:cs typeface="Arial"/>
              </a:defRPr>
            </a:pPr>
            <a:r>
              <a:rPr sz="750" b="1" i="0">
                <a:solidFill>
                  <a:srgbClr val="B77708"/>
                </a:solidFill>
                <a:latin typeface="Arial"/>
                <a:ea typeface="Arial"/>
                <a:cs typeface="Arial"/>
              </a:rPr>
              <a:t>The UAT cycle closes when results, actions, approval, and the next gate are documented and shared.</a:t>
            </a:r>
          </a:p>
        </p:txBody>
      </p:sp>
    </p:spTree>
    <p:extLst>
      <p:ext uri="{BB962C8B-B14F-4D97-AF65-F5344CB8AC3E}">
        <p14:creationId xmlns:p14="http://schemas.microsoft.com/office/powerpoint/2010/main" val="39154577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2026-09-23T05:57:05.9640000Z</dcterms:created>
  <dcterms:modified xsi:type="dcterms:W3CDTF">2026-09-23T05:57:05.9640000Z</dcterms:modified>
</coreProperties>
</file>